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8"/>
      <p:bold r:id="rId9"/>
    </p:embeddedFont>
    <p:embeddedFont>
      <p:font typeface="Garamond Bold" panose="02020804030307010803" charset="0"/>
      <p:regular r:id="rId10"/>
    </p:embeddedFont>
    <p:embeddedFont>
      <p:font typeface="Georgia" panose="02040502050405020303" pitchFamily="18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" Type="http://schemas.openxmlformats.org/officeDocument/2006/relationships/image" Target="../media/image6.png"/><Relationship Id="rId16" Type="http://schemas.openxmlformats.org/officeDocument/2006/relationships/image" Target="../media/image19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24" Type="http://schemas.openxmlformats.org/officeDocument/2006/relationships/image" Target="../media/image27.sv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svg"/><Relationship Id="rId19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18.png"/><Relationship Id="rId18" Type="http://schemas.openxmlformats.org/officeDocument/2006/relationships/image" Target="../media/image25.svg"/><Relationship Id="rId3" Type="http://schemas.openxmlformats.org/officeDocument/2006/relationships/image" Target="../media/image28.png"/><Relationship Id="rId21" Type="http://schemas.openxmlformats.org/officeDocument/2006/relationships/image" Target="../media/image36.png"/><Relationship Id="rId7" Type="http://schemas.openxmlformats.org/officeDocument/2006/relationships/image" Target="../media/image32.png"/><Relationship Id="rId12" Type="http://schemas.openxmlformats.org/officeDocument/2006/relationships/image" Target="../media/image17.svg"/><Relationship Id="rId17" Type="http://schemas.openxmlformats.org/officeDocument/2006/relationships/image" Target="../media/image24.png"/><Relationship Id="rId2" Type="http://schemas.openxmlformats.org/officeDocument/2006/relationships/image" Target="../media/image5.png"/><Relationship Id="rId16" Type="http://schemas.openxmlformats.org/officeDocument/2006/relationships/image" Target="../media/image23.sv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11" Type="http://schemas.openxmlformats.org/officeDocument/2006/relationships/image" Target="../media/image16.png"/><Relationship Id="rId5" Type="http://schemas.openxmlformats.org/officeDocument/2006/relationships/image" Target="../media/image30.png"/><Relationship Id="rId15" Type="http://schemas.openxmlformats.org/officeDocument/2006/relationships/image" Target="../media/image22.png"/><Relationship Id="rId10" Type="http://schemas.openxmlformats.org/officeDocument/2006/relationships/image" Target="../media/image35.svg"/><Relationship Id="rId19" Type="http://schemas.openxmlformats.org/officeDocument/2006/relationships/image" Target="../media/image26.pn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19.svg"/><Relationship Id="rId22" Type="http://schemas.openxmlformats.org/officeDocument/2006/relationships/image" Target="../media/image3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26" Type="http://schemas.openxmlformats.org/officeDocument/2006/relationships/image" Target="../media/image57.svg"/><Relationship Id="rId3" Type="http://schemas.openxmlformats.org/officeDocument/2006/relationships/image" Target="../media/image38.png"/><Relationship Id="rId21" Type="http://schemas.openxmlformats.org/officeDocument/2006/relationships/image" Target="../media/image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5" Type="http://schemas.openxmlformats.org/officeDocument/2006/relationships/image" Target="../media/image56.png"/><Relationship Id="rId2" Type="http://schemas.openxmlformats.org/officeDocument/2006/relationships/image" Target="../media/image5.png"/><Relationship Id="rId16" Type="http://schemas.openxmlformats.org/officeDocument/2006/relationships/image" Target="../media/image51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24" Type="http://schemas.openxmlformats.org/officeDocument/2006/relationships/image" Target="../media/image55.sv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4.png"/><Relationship Id="rId28" Type="http://schemas.openxmlformats.org/officeDocument/2006/relationships/image" Target="../media/image59.svg"/><Relationship Id="rId10" Type="http://schemas.openxmlformats.org/officeDocument/2006/relationships/image" Target="../media/image45.svg"/><Relationship Id="rId19" Type="http://schemas.openxmlformats.org/officeDocument/2006/relationships/image" Target="../media/image22.pn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Relationship Id="rId22" Type="http://schemas.openxmlformats.org/officeDocument/2006/relationships/image" Target="../media/image9.svg"/><Relationship Id="rId27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png"/><Relationship Id="rId18" Type="http://schemas.openxmlformats.org/officeDocument/2006/relationships/image" Target="../media/image19.svg"/><Relationship Id="rId26" Type="http://schemas.openxmlformats.org/officeDocument/2006/relationships/image" Target="../media/image75.svg"/><Relationship Id="rId3" Type="http://schemas.openxmlformats.org/officeDocument/2006/relationships/image" Target="../media/image60.png"/><Relationship Id="rId21" Type="http://schemas.openxmlformats.org/officeDocument/2006/relationships/image" Target="../media/image26.png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17" Type="http://schemas.openxmlformats.org/officeDocument/2006/relationships/image" Target="../media/image18.png"/><Relationship Id="rId25" Type="http://schemas.openxmlformats.org/officeDocument/2006/relationships/image" Target="../media/image74.png"/><Relationship Id="rId2" Type="http://schemas.openxmlformats.org/officeDocument/2006/relationships/image" Target="../media/image5.png"/><Relationship Id="rId16" Type="http://schemas.openxmlformats.org/officeDocument/2006/relationships/image" Target="../media/image17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svg"/><Relationship Id="rId11" Type="http://schemas.openxmlformats.org/officeDocument/2006/relationships/image" Target="../media/image68.png"/><Relationship Id="rId24" Type="http://schemas.openxmlformats.org/officeDocument/2006/relationships/image" Target="../media/image73.svg"/><Relationship Id="rId5" Type="http://schemas.openxmlformats.org/officeDocument/2006/relationships/image" Target="../media/image62.png"/><Relationship Id="rId15" Type="http://schemas.openxmlformats.org/officeDocument/2006/relationships/image" Target="../media/image16.png"/><Relationship Id="rId23" Type="http://schemas.openxmlformats.org/officeDocument/2006/relationships/image" Target="../media/image72.png"/><Relationship Id="rId28" Type="http://schemas.openxmlformats.org/officeDocument/2006/relationships/image" Target="../media/image77.svg"/><Relationship Id="rId10" Type="http://schemas.openxmlformats.org/officeDocument/2006/relationships/image" Target="../media/image67.svg"/><Relationship Id="rId19" Type="http://schemas.openxmlformats.org/officeDocument/2006/relationships/image" Target="../media/image24.png"/><Relationship Id="rId4" Type="http://schemas.openxmlformats.org/officeDocument/2006/relationships/image" Target="../media/image61.svg"/><Relationship Id="rId9" Type="http://schemas.openxmlformats.org/officeDocument/2006/relationships/image" Target="../media/image66.png"/><Relationship Id="rId14" Type="http://schemas.openxmlformats.org/officeDocument/2006/relationships/image" Target="../media/image71.svg"/><Relationship Id="rId22" Type="http://schemas.openxmlformats.org/officeDocument/2006/relationships/image" Target="../media/image27.svg"/><Relationship Id="rId27" Type="http://schemas.openxmlformats.org/officeDocument/2006/relationships/image" Target="../media/image76.png"/></Relationships>
</file>

<file path=ppt/slides/_rels/slide6.xml.rels><?xml version="1.0" encoding="UTF-8" standalone="yes"?>
<Relationships xmlns="http://schemas.openxmlformats.org/package/2006/relationships"><Relationship Id="rId13" Type="http://schemas.openxmlformats.org/officeDocument/2006/relationships/hyperlink" Target="https://www.scribd.com/document/780240233/JSS-55555-2020-Fourth-Revision-LSSC" TargetMode="External"/><Relationship Id="rId18" Type="http://schemas.openxmlformats.org/officeDocument/2006/relationships/image" Target="../media/image78.png"/><Relationship Id="rId26" Type="http://schemas.openxmlformats.org/officeDocument/2006/relationships/image" Target="../media/image54.png"/><Relationship Id="rId3" Type="http://schemas.openxmlformats.org/officeDocument/2006/relationships/hyperlink" Target="https://sites.astro.caltech.edu/~srk/TP/Literature/Wallace_Telescope_Pointing.pdf" TargetMode="External"/><Relationship Id="rId21" Type="http://schemas.openxmlformats.org/officeDocument/2006/relationships/image" Target="../media/image81.svg"/><Relationship Id="rId7" Type="http://schemas.openxmlformats.org/officeDocument/2006/relationships/hyperlink" Target="https://ntrs.nasa.gov/api/citations/20200002690/downloads/20200002690.pdf" TargetMode="External"/><Relationship Id="rId12" Type="http://schemas.openxmlformats.org/officeDocument/2006/relationships/hyperlink" Target="https://asmedigitalcollection.asme.org/dynamicsystems/article-abstract/134/1/011021/467177" TargetMode="External"/><Relationship Id="rId17" Type="http://schemas.openxmlformats.org/officeDocument/2006/relationships/hyperlink" Target="https://achal-simulation.vercel.app" TargetMode="External"/><Relationship Id="rId25" Type="http://schemas.openxmlformats.org/officeDocument/2006/relationships/image" Target="../media/image83.svg"/><Relationship Id="rId33" Type="http://schemas.openxmlformats.org/officeDocument/2006/relationships/image" Target="../media/image57.svg"/><Relationship Id="rId2" Type="http://schemas.openxmlformats.org/officeDocument/2006/relationships/image" Target="../media/image5.png"/><Relationship Id="rId16" Type="http://schemas.openxmlformats.org/officeDocument/2006/relationships/hyperlink" Target="https://drive.google.com/file/d/1jJxxI2EIeYw9uvgJgDPeDLDhHupuYVNg/view?usp=drive_link" TargetMode="External"/><Relationship Id="rId20" Type="http://schemas.openxmlformats.org/officeDocument/2006/relationships/image" Target="../media/image80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tents.google.com/patent/WO2000016152A1/en" TargetMode="External"/><Relationship Id="rId11" Type="http://schemas.openxmlformats.org/officeDocument/2006/relationships/hyperlink" Target="https://www.business-standard.com/external-affairs-defence-security/news/drdo-mk-iia-high-energy-laser-weapon-trial-kurnool-features-star-wars-125041400160_1.html" TargetMode="External"/><Relationship Id="rId24" Type="http://schemas.openxmlformats.org/officeDocument/2006/relationships/image" Target="../media/image82.png"/><Relationship Id="rId32" Type="http://schemas.openxmlformats.org/officeDocument/2006/relationships/image" Target="../media/image56.png"/><Relationship Id="rId5" Type="http://schemas.openxmlformats.org/officeDocument/2006/relationships/hyperlink" Target="https://image-ppubs.uspto.gov/dirsearch-public/print/downloadPdf/7437222" TargetMode="External"/><Relationship Id="rId15" Type="http://schemas.openxmlformats.org/officeDocument/2006/relationships/hyperlink" Target="https://drive.google.com/file/d/1_EZqExghhIKiOwbJVxGpDaSDH9n1E9CI/view?usp=drive_link" TargetMode="External"/><Relationship Id="rId23" Type="http://schemas.openxmlformats.org/officeDocument/2006/relationships/image" Target="../media/image23.svg"/><Relationship Id="rId28" Type="http://schemas.openxmlformats.org/officeDocument/2006/relationships/image" Target="../media/image32.png"/><Relationship Id="rId10" Type="http://schemas.openxmlformats.org/officeDocument/2006/relationships/hyperlink" Target="https://en.wikipedia.org/wiki/Integrated_Drone_Detection_&amp;_Interdiction_System" TargetMode="External"/><Relationship Id="rId19" Type="http://schemas.openxmlformats.org/officeDocument/2006/relationships/image" Target="../media/image79.svg"/><Relationship Id="rId31" Type="http://schemas.openxmlformats.org/officeDocument/2006/relationships/image" Target="../media/image85.svg"/><Relationship Id="rId4" Type="http://schemas.openxmlformats.org/officeDocument/2006/relationships/hyperlink" Target="https://link.springer.com/chapter/10.1007/978-3-030-34515-0_81" TargetMode="External"/><Relationship Id="rId9" Type="http://schemas.openxmlformats.org/officeDocument/2006/relationships/hyperlink" Target="https://bel-india.in/product/anti-drone-system/" TargetMode="External"/><Relationship Id="rId14" Type="http://schemas.openxmlformats.org/officeDocument/2006/relationships/hyperlink" Target="https://www.asianmilitaryreview.com/2026/02/indian-army-eyes-drone-interception-systems-and-armed-uavs-foc/" TargetMode="External"/><Relationship Id="rId22" Type="http://schemas.openxmlformats.org/officeDocument/2006/relationships/image" Target="../media/image22.png"/><Relationship Id="rId27" Type="http://schemas.openxmlformats.org/officeDocument/2006/relationships/image" Target="../media/image55.svg"/><Relationship Id="rId30" Type="http://schemas.openxmlformats.org/officeDocument/2006/relationships/image" Target="../media/image84.png"/><Relationship Id="rId8" Type="http://schemas.openxmlformats.org/officeDocument/2006/relationships/hyperlink" Target="https://arxiv.org/html/2606.11285" TargetMode="External"/><Relationship Id="rId99" Type="http://schemas.openxmlformats.org/officeDocument/2006/relationships/hyperlink" Target="https://drive.google.com/file/d/10dWZ6FgtNX4uGu1T_S2u4QkHAY5v_3V4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3000"/>
              </a:blip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588369" y="-280054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85216" y="2331720"/>
            <a:ext cx="7818120" cy="79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10" lvl="1" indent="-32575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SIH26050</a:t>
            </a:r>
          </a:p>
          <a:p>
            <a:pPr marL="651510" lvl="1" indent="-325755" algn="l">
              <a:lnSpc>
                <a:spcPct val="100000"/>
              </a:lnSpc>
              <a:spcBef>
                <a:spcPts val="260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Altitude Performance Optimization and Robust Design of Anti-Drone System</a:t>
            </a:r>
          </a:p>
          <a:p>
            <a:pPr marL="651510" lvl="1" indent="-325755" algn="l">
              <a:lnSpc>
                <a:spcPct val="100000"/>
              </a:lnSpc>
              <a:spcBef>
                <a:spcPts val="260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 / Security &amp; Surveillance</a:t>
            </a:r>
          </a:p>
          <a:p>
            <a:pPr marL="651510" lvl="1" indent="-325755" algn="l">
              <a:lnSpc>
                <a:spcPct val="100000"/>
              </a:lnSpc>
              <a:spcBef>
                <a:spcPts val="260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</a:p>
          <a:p>
            <a:pPr marL="651510" lvl="1" indent="-325755" algn="l">
              <a:lnSpc>
                <a:spcPct val="100000"/>
              </a:lnSpc>
              <a:spcBef>
                <a:spcPts val="260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165054</a:t>
            </a:r>
          </a:p>
          <a:p>
            <a:pPr marL="651510" lvl="1" indent="-325755" algn="l">
              <a:lnSpc>
                <a:spcPct val="100000"/>
              </a:lnSpc>
              <a:spcBef>
                <a:spcPts val="260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WeAreDoomed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HERO self-reference scene">
            <a:extLst>
              <a:ext uri="{FF2B5EF4-FFF2-40B4-BE49-F238E27FC236}">
                <a16:creationId xmlns:a16="http://schemas.microsoft.com/office/drawing/2014/main" id="{70129A8D-87D4-A5BA-9EDE-9AB1D280CC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0448" y="2414016"/>
            <a:ext cx="7735824" cy="4032504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8" name="Team badge"/>
          <p:cNvSpPr/>
          <p:nvPr/>
        </p:nvSpPr>
        <p:spPr>
          <a:xfrm>
            <a:off x="228600" y="100584"/>
            <a:ext cx="2816352" cy="1225296"/>
          </a:xfrm>
          <a:prstGeom prst="ellipse">
            <a:avLst/>
          </a:prstGeom>
          <a:solidFill>
            <a:srgbClr val="EEF2F8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am wordmark"/>
          <p:cNvSpPr txBox="1"/>
          <p:nvPr/>
        </p:nvSpPr>
        <p:spPr>
          <a:xfrm>
            <a:off x="228600" y="274320"/>
            <a:ext cx="2816352" cy="8778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 i="0" u="none">
                <a:solidFill>
                  <a:srgbClr val="22324D"/>
                </a:solidFill>
                <a:latin typeface="Segoe UI"/>
                <a:cs typeface="Segoe UI"/>
              </a:rPr>
              <a:t>WeAreDoomed</a:t>
            </a:r>
          </a:p>
          <a:p>
            <a:pPr algn="ctr"/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Team ID 165054</a:t>
            </a:r>
          </a:p>
        </p:txBody>
      </p:sp>
      <p:sp>
        <p:nvSpPr>
          <p:cNvPr id="20" name="Title"/>
          <p:cNvSpPr txBox="1"/>
          <p:nvPr/>
        </p:nvSpPr>
        <p:spPr>
          <a:xfrm>
            <a:off x="3246120" y="164592"/>
            <a:ext cx="11247120" cy="1298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200" b="1" i="0" u="none">
                <a:solidFill>
                  <a:srgbClr val="111827"/>
                </a:solidFill>
                <a:latin typeface="Times New Roman"/>
                <a:cs typeface="Times New Roman"/>
              </a:rPr>
              <a:t>PROPOSED SOLUTION</a:t>
            </a:r>
          </a:p>
        </p:txBody>
      </p:sp>
      <p:cxnSp>
        <p:nvCxnSpPr>
          <p:cNvPr id="21" name="Header rule"/>
          <p:cNvCxnSpPr/>
          <p:nvPr/>
        </p:nvCxnSpPr>
        <p:spPr>
          <a:xfrm>
            <a:off x="374904" y="1636776"/>
            <a:ext cx="17556480" cy="0"/>
          </a:xfrm>
          <a:prstGeom prst="line">
            <a:avLst/>
          </a:prstGeom>
          <a:ln w="9525">
            <a:solidFill>
              <a:srgbClr val="2B2B2B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641848" y="1828800"/>
            <a:ext cx="0" cy="8211312"/>
          </a:xfrm>
          <a:prstGeom prst="line">
            <a:avLst/>
          </a:prstGeom>
          <a:ln w="12700">
            <a:solidFill>
              <a:srgbClr val="2B2B2B"/>
            </a:solidFill>
            <a:prstDash val="dash"/>
          </a:ln>
        </p:spPr>
      </p:cxnSp>
      <p:cxnSp>
        <p:nvCxnSpPr>
          <p:cNvPr id="23" name="Connector 22"/>
          <p:cNvCxnSpPr/>
          <p:nvPr/>
        </p:nvCxnSpPr>
        <p:spPr>
          <a:xfrm>
            <a:off x="13834872" y="1828800"/>
            <a:ext cx="0" cy="8211312"/>
          </a:xfrm>
          <a:prstGeom prst="line">
            <a:avLst/>
          </a:prstGeom>
          <a:ln w="12700">
            <a:solidFill>
              <a:srgbClr val="2B2B2B"/>
            </a:solidFill>
            <a:prstDash val="dash"/>
          </a:ln>
        </p:spPr>
      </p:cxnSp>
      <p:sp>
        <p:nvSpPr>
          <p:cNvPr id="24" name="TextBox 23"/>
          <p:cNvSpPr txBox="1"/>
          <p:nvPr/>
        </p:nvSpPr>
        <p:spPr>
          <a:xfrm>
            <a:off x="402336" y="1783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 u="none">
                <a:solidFill>
                  <a:srgbClr val="C8541A"/>
                </a:solidFill>
                <a:latin typeface="Segoe UI"/>
                <a:cs typeface="Segoe UI"/>
              </a:rPr>
              <a:t>Problem at Hand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" y="2450592"/>
            <a:ext cx="5029200" cy="1783080"/>
          </a:xfrm>
          <a:prstGeom prst="rect">
            <a:avLst/>
          </a:prstGeom>
          <a:solidFill>
            <a:srgbClr val="FFF7E3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17904" y="2542032"/>
            <a:ext cx="3767328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900" b="1" i="0" u="none">
                <a:solidFill>
                  <a:srgbClr val="1F2937"/>
                </a:solidFill>
                <a:latin typeface="Segoe UI"/>
                <a:cs typeface="Segoe UI"/>
              </a:rPr>
              <a:t>The cold changes the machine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Cables stiffen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, bearings drag and sensors drift; motors, batteries and electronics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derate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" y="4386376"/>
            <a:ext cx="5029200" cy="1783080"/>
          </a:xfrm>
          <a:prstGeom prst="rect">
            <a:avLst/>
          </a:prstGeom>
          <a:solidFill>
            <a:srgbClr val="F9E1DC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17904" y="4477816"/>
            <a:ext cx="3767328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900" b="1" i="0" u="none">
                <a:solidFill>
                  <a:srgbClr val="1F2937"/>
                </a:solidFill>
                <a:latin typeface="Segoe UI"/>
                <a:cs typeface="Segoe UI"/>
              </a:rPr>
              <a:t>Sun and wind bend and shake 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Thermal gradients and wind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deform the structure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 and push the aim off target.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" y="6322161"/>
            <a:ext cx="5029200" cy="1783080"/>
          </a:xfrm>
          <a:prstGeom prst="rect">
            <a:avLst/>
          </a:prstGeom>
          <a:solidFill>
            <a:srgbClr val="E4E6F7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17904" y="6413601"/>
            <a:ext cx="3767328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900" b="1" i="0" u="none">
                <a:solidFill>
                  <a:srgbClr val="1F2937"/>
                </a:solidFill>
                <a:latin typeface="Segoe UI"/>
                <a:cs typeface="Segoe UI"/>
              </a:rPr>
              <a:t>Calibration is frozen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Factory calibration and temperature-based compensation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cannot see what actually changed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" y="8257946"/>
            <a:ext cx="5029200" cy="1783080"/>
          </a:xfrm>
          <a:prstGeom prst="rect">
            <a:avLst/>
          </a:prstGeom>
          <a:solidFill>
            <a:srgbClr val="FBE3E0"/>
          </a:solidFill>
          <a:ln w="15875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17904" y="8349386"/>
            <a:ext cx="3767328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900" b="1" i="0" u="none">
                <a:solidFill>
                  <a:srgbClr val="C0392B"/>
                </a:solidFill>
                <a:latin typeface="Segoe UI"/>
                <a:cs typeface="Segoe UI"/>
              </a:rPr>
              <a:t>The failure is silent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The system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keeps tracking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 while its true pointing accuracy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quietly degrades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1783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 u="none">
                <a:solidFill>
                  <a:srgbClr val="2E7D32"/>
                </a:solidFill>
                <a:latin typeface="Segoe UI"/>
                <a:cs typeface="Segoe UI"/>
              </a:rPr>
              <a:t>Our Solution  </a:t>
            </a:r>
            <a:r>
              <a:rPr sz="3000" b="1" i="0" u="none">
                <a:solidFill>
                  <a:srgbClr val="22324D"/>
                </a:solidFill>
                <a:latin typeface="Segoe UI"/>
                <a:cs typeface="Segoe UI"/>
              </a:rPr>
              <a:t>ACHAL</a:t>
            </a:r>
            <a:r>
              <a:rPr sz="1600" b="0" i="1" u="none">
                <a:solidFill>
                  <a:srgbClr val="4B5563"/>
                </a:solidFill>
                <a:latin typeface="Georgia"/>
                <a:cs typeface="Georgia"/>
              </a:rPr>
              <a:t>    a self-referencing pointing head</a:t>
            </a:r>
          </a:p>
        </p:txBody>
      </p:sp>
      <p:sp>
        <p:nvSpPr>
          <p:cNvPr id="34" name="Hero frame"/>
          <p:cNvSpPr/>
          <p:nvPr/>
        </p:nvSpPr>
        <p:spPr>
          <a:xfrm>
            <a:off x="5852160" y="2395728"/>
            <a:ext cx="7772400" cy="40690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4265" y="2504634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22324D"/>
                </a:solidFill>
                <a:latin typeface="Segoe UI"/>
                <a:cs typeface="Segoe UI"/>
              </a:rPr>
              <a:t>Calibrate against what the cold cannot move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4265" y="2903353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1" u="none">
                <a:solidFill>
                  <a:srgbClr val="22324D"/>
                </a:solidFill>
                <a:latin typeface="Georgia"/>
                <a:cs typeface="Georgia"/>
              </a:rPr>
              <a:t xml:space="preserve">Instead of compensating for the weather, ACHAL </a:t>
            </a:r>
            <a:r>
              <a:rPr sz="1450" b="0" i="1" u="none">
                <a:solidFill>
                  <a:srgbClr val="22324D"/>
                </a:solidFill>
                <a:highlight>
                  <a:srgbClr val="FFF5B0"/>
                </a:highlight>
                <a:latin typeface="Georgia"/>
                <a:cs typeface="Georgia"/>
              </a:rPr>
              <a:t>measures what the weather did to the machine</a:t>
            </a:r>
            <a:r>
              <a:rPr sz="1450" b="0" i="1" u="none">
                <a:solidFill>
                  <a:srgbClr val="22324D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449" y="3465185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Drone: tracked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31250" y="419013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 i="0" u="none">
                <a:solidFill>
                  <a:srgbClr val="22324D"/>
                </a:solidFill>
                <a:latin typeface="Segoe UI"/>
                <a:cs typeface="Segoe UI"/>
              </a:rPr>
              <a:t>Ridge (far)</a:t>
            </a:r>
          </a:p>
          <a:p>
            <a:pPr algn="l"/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fixes azimuth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7309" y="4878827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 i="0" u="none">
                <a:solidFill>
                  <a:srgbClr val="22324D"/>
                </a:solidFill>
                <a:latin typeface="Segoe UI"/>
                <a:cs typeface="Segoe UI"/>
              </a:rPr>
              <a:t>Marker (near)</a:t>
            </a:r>
          </a:p>
          <a:p>
            <a:pPr algn="l"/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fixes elevation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49895" y="3356443"/>
            <a:ext cx="155448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450" b="1" i="0" u="none">
                <a:solidFill>
                  <a:srgbClr val="22324D"/>
                </a:solidFill>
                <a:latin typeface="Segoe UI"/>
                <a:cs typeface="Segoe UI"/>
              </a:rPr>
              <a:t>Stars (night)</a:t>
            </a:r>
          </a:p>
          <a:p>
            <a:pPr algn="r"/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high angles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457" y="4208253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 i="0" u="none">
                <a:solidFill>
                  <a:srgbClr val="22324D"/>
                </a:solidFill>
                <a:latin typeface="Segoe UI"/>
                <a:cs typeface="Segoe UI"/>
              </a:rPr>
              <a:t>ACHAL head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9950" y="5803131"/>
            <a:ext cx="132588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sz="1400" b="1" i="0" u="none">
                <a:solidFill>
                  <a:srgbClr val="C8541A"/>
                </a:solidFill>
                <a:latin typeface="Segoe UI"/>
                <a:cs typeface="Segoe UI"/>
              </a:rPr>
              <a:t>motor current</a:t>
            </a:r>
          </a:p>
          <a:p>
            <a:pPr algn="l">
              <a:lnSpc>
                <a:spcPct val="95000"/>
              </a:lnSpc>
            </a:pPr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= torque sensor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420932" y="5966244"/>
            <a:ext cx="436847" cy="0"/>
          </a:xfrm>
          <a:prstGeom prst="line">
            <a:avLst/>
          </a:prstGeom>
          <a:ln w="25400">
            <a:solidFill>
              <a:srgbClr val="2E7D32"/>
            </a:solidFill>
            <a:prstDash val="dash"/>
          </a:ln>
        </p:spPr>
      </p:cxnSp>
      <p:sp>
        <p:nvSpPr>
          <p:cNvPr id="44" name="TextBox 43"/>
          <p:cNvSpPr txBox="1"/>
          <p:nvPr/>
        </p:nvSpPr>
        <p:spPr>
          <a:xfrm>
            <a:off x="10930586" y="583937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none">
                <a:solidFill>
                  <a:srgbClr val="1F2937"/>
                </a:solidFill>
                <a:latin typeface="Georgia"/>
                <a:cs typeface="Georgia"/>
              </a:rPr>
              <a:t>sight line to a fixed reference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420932" y="6238098"/>
            <a:ext cx="436847" cy="0"/>
          </a:xfrm>
          <a:prstGeom prst="line">
            <a:avLst/>
          </a:prstGeom>
          <a:ln w="28575">
            <a:solidFill>
              <a:srgbClr val="C8541A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10930586" y="6111233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none">
                <a:solidFill>
                  <a:srgbClr val="1F2937"/>
                </a:solidFill>
                <a:latin typeface="Georgia"/>
                <a:cs typeface="Georgia"/>
              </a:rPr>
              <a:t>target track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52160" y="6638544"/>
            <a:ext cx="1031965" cy="676656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Sense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effects</a:t>
            </a:r>
          </a:p>
        </p:txBody>
      </p:sp>
      <p:sp>
        <p:nvSpPr>
          <p:cNvPr id="48" name="Oval 47"/>
          <p:cNvSpPr/>
          <p:nvPr/>
        </p:nvSpPr>
        <p:spPr>
          <a:xfrm>
            <a:off x="5788152" y="6501383"/>
            <a:ext cx="292608" cy="292608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88697" y="6976872"/>
            <a:ext cx="8229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0" name="Rounded Rectangle 49"/>
          <p:cNvSpPr/>
          <p:nvPr/>
        </p:nvSpPr>
        <p:spPr>
          <a:xfrm>
            <a:off x="6975565" y="6638544"/>
            <a:ext cx="1031965" cy="676656"/>
          </a:xfrm>
          <a:prstGeom prst="roundRect">
            <a:avLst>
              <a:gd name="adj" fmla="val 12000"/>
            </a:avLst>
          </a:prstGeom>
          <a:solidFill>
            <a:srgbClr val="EAF4E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Torque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fingerprint</a:t>
            </a:r>
          </a:p>
        </p:txBody>
      </p:sp>
      <p:sp>
        <p:nvSpPr>
          <p:cNvPr id="51" name="Oval 50"/>
          <p:cNvSpPr/>
          <p:nvPr/>
        </p:nvSpPr>
        <p:spPr>
          <a:xfrm>
            <a:off x="6911557" y="6501383"/>
            <a:ext cx="292608" cy="292608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12103" y="6976872"/>
            <a:ext cx="8229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3" name="Rounded Rectangle 52"/>
          <p:cNvSpPr/>
          <p:nvPr/>
        </p:nvSpPr>
        <p:spPr>
          <a:xfrm>
            <a:off x="8098971" y="6638544"/>
            <a:ext cx="1031965" cy="676656"/>
          </a:xfrm>
          <a:prstGeom prst="roundRect">
            <a:avLst>
              <a:gd name="adj" fmla="val 12000"/>
            </a:avLst>
          </a:prstGeom>
          <a:solidFill>
            <a:srgbClr val="EAF4E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Aim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revisit</a:t>
            </a:r>
          </a:p>
        </p:txBody>
      </p:sp>
      <p:sp>
        <p:nvSpPr>
          <p:cNvPr id="54" name="Oval 53"/>
          <p:cNvSpPr/>
          <p:nvPr/>
        </p:nvSpPr>
        <p:spPr>
          <a:xfrm>
            <a:off x="8034963" y="6501383"/>
            <a:ext cx="292608" cy="292608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35509" y="6976872"/>
            <a:ext cx="8229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6" name="Rounded Rectangle 55"/>
          <p:cNvSpPr/>
          <p:nvPr/>
        </p:nvSpPr>
        <p:spPr>
          <a:xfrm>
            <a:off x="9222377" y="6638544"/>
            <a:ext cx="1031965" cy="676656"/>
          </a:xfrm>
          <a:prstGeom prst="roundRect">
            <a:avLst>
              <a:gd name="adj" fmla="val 12000"/>
            </a:avLst>
          </a:prstGeom>
          <a:solidFill>
            <a:srgbClr val="EAF4E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Model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θ(t) ± σ</a:t>
            </a:r>
          </a:p>
        </p:txBody>
      </p:sp>
      <p:sp>
        <p:nvSpPr>
          <p:cNvPr id="57" name="Oval 56"/>
          <p:cNvSpPr/>
          <p:nvPr/>
        </p:nvSpPr>
        <p:spPr>
          <a:xfrm>
            <a:off x="9158369" y="6501383"/>
            <a:ext cx="292608" cy="292608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258914" y="6976872"/>
            <a:ext cx="8229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9" name="Rounded Rectangle 58"/>
          <p:cNvSpPr/>
          <p:nvPr/>
        </p:nvSpPr>
        <p:spPr>
          <a:xfrm>
            <a:off x="10345782" y="6638544"/>
            <a:ext cx="1031965" cy="676656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Correct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ADRC</a:t>
            </a:r>
          </a:p>
        </p:txBody>
      </p:sp>
      <p:sp>
        <p:nvSpPr>
          <p:cNvPr id="60" name="Oval 59"/>
          <p:cNvSpPr/>
          <p:nvPr/>
        </p:nvSpPr>
        <p:spPr>
          <a:xfrm>
            <a:off x="10281774" y="6501383"/>
            <a:ext cx="292608" cy="292608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1382320" y="6976872"/>
            <a:ext cx="8229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2" name="Rounded Rectangle 61"/>
          <p:cNvSpPr/>
          <p:nvPr/>
        </p:nvSpPr>
        <p:spPr>
          <a:xfrm>
            <a:off x="11469188" y="6638544"/>
            <a:ext cx="1031965" cy="676656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Judge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health</a:t>
            </a:r>
          </a:p>
        </p:txBody>
      </p:sp>
      <p:sp>
        <p:nvSpPr>
          <p:cNvPr id="63" name="Oval 62"/>
          <p:cNvSpPr/>
          <p:nvPr/>
        </p:nvSpPr>
        <p:spPr>
          <a:xfrm>
            <a:off x="11405180" y="6501383"/>
            <a:ext cx="292608" cy="292608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2505726" y="6976872"/>
            <a:ext cx="8229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5" name="Rounded Rectangle 64"/>
          <p:cNvSpPr/>
          <p:nvPr/>
        </p:nvSpPr>
        <p:spPr>
          <a:xfrm>
            <a:off x="12592594" y="6638544"/>
            <a:ext cx="1031965" cy="676656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Declare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capability</a:t>
            </a:r>
          </a:p>
        </p:txBody>
      </p:sp>
      <p:sp>
        <p:nvSpPr>
          <p:cNvPr id="66" name="Oval 65"/>
          <p:cNvSpPr/>
          <p:nvPr/>
        </p:nvSpPr>
        <p:spPr>
          <a:xfrm>
            <a:off x="12528586" y="6501383"/>
            <a:ext cx="292608" cy="292608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7424927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600" b="1" i="0" u="none">
                <a:solidFill>
                  <a:srgbClr val="1B5E9E"/>
                </a:solidFill>
                <a:latin typeface="Segoe UI"/>
                <a:cs typeface="Segoe UI"/>
              </a:rPr>
              <a:t>Why We Stand Out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852160" y="7955279"/>
            <a:ext cx="2499359" cy="2084831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89320" y="8028431"/>
            <a:ext cx="22250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B5E9E"/>
                </a:solidFill>
                <a:latin typeface="Segoe UI"/>
                <a:cs typeface="Segoe UI"/>
              </a:rPr>
              <a:t>Measures the machine, not the weather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88680" y="7955279"/>
            <a:ext cx="2499359" cy="2084831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625840" y="8028431"/>
            <a:ext cx="22250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B5E9E"/>
                </a:solidFill>
                <a:latin typeface="Segoe UI"/>
                <a:cs typeface="Segoe UI"/>
              </a:rPr>
              <a:t>Calibrates against fixed references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125200" y="7955279"/>
            <a:ext cx="2499359" cy="2084831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262360" y="8028431"/>
            <a:ext cx="22250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B5E9E"/>
                </a:solidFill>
                <a:latin typeface="Segoe UI"/>
                <a:cs typeface="Segoe UI"/>
              </a:rPr>
              <a:t>Knows when it can't trust itself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0528" y="8723376"/>
            <a:ext cx="1749551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motor current is </a:t>
            </a:r>
            <a:r>
              <a:rPr sz="140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split into named torques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89320" y="9308592"/>
            <a:ext cx="1075943" cy="283464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50" b="1" i="0" u="none">
                <a:solidFill>
                  <a:srgbClr val="2E7D32"/>
                </a:solidFill>
                <a:latin typeface="Segoe UI"/>
                <a:cs typeface="Segoe UI"/>
              </a:rPr>
              <a:t>friction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8416" y="9308592"/>
            <a:ext cx="1075943" cy="283464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50" b="1" i="0" u="none">
                <a:solidFill>
                  <a:srgbClr val="2E7D32"/>
                </a:solidFill>
                <a:latin typeface="Segoe UI"/>
                <a:cs typeface="Segoe UI"/>
              </a:rPr>
              <a:t>cable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89320" y="9656064"/>
            <a:ext cx="1075943" cy="283464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50" b="1" i="0" u="none">
                <a:solidFill>
                  <a:srgbClr val="2E7D32"/>
                </a:solidFill>
                <a:latin typeface="Segoe UI"/>
                <a:cs typeface="Segoe UI"/>
              </a:rPr>
              <a:t>imbalance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38416" y="9656064"/>
            <a:ext cx="1075943" cy="283464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50" b="1" i="0" u="none">
                <a:solidFill>
                  <a:srgbClr val="2E7D32"/>
                </a:solidFill>
                <a:latin typeface="Segoe UI"/>
                <a:cs typeface="Segoe UI"/>
              </a:rPr>
              <a:t>wind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625840" y="8759952"/>
            <a:ext cx="705103" cy="28346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markers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385808" y="8759952"/>
            <a:ext cx="705103" cy="28346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ridges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45776" y="8759952"/>
            <a:ext cx="705103" cy="28346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stars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738360" y="9070848"/>
            <a:ext cx="0" cy="18288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83" name="TextBox 82"/>
          <p:cNvSpPr txBox="1"/>
          <p:nvPr/>
        </p:nvSpPr>
        <p:spPr>
          <a:xfrm>
            <a:off x="8625840" y="9272015"/>
            <a:ext cx="222504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400" b="1" i="0" u="none">
                <a:solidFill>
                  <a:srgbClr val="1F2937"/>
                </a:solidFill>
                <a:latin typeface="Segoe UI"/>
                <a:cs typeface="Segoe UI"/>
              </a:rPr>
              <a:t>re-fits the aim: </a:t>
            </a:r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encoder zero · tilt · flexure · gyro bias · </a:t>
            </a:r>
            <a:r>
              <a:rPr sz="140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boresight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289792" y="8851392"/>
            <a:ext cx="2170175" cy="329184"/>
          </a:xfrm>
          <a:prstGeom prst="roundRect">
            <a:avLst>
              <a:gd name="adj" fmla="val 20000"/>
            </a:avLst>
          </a:prstGeom>
          <a:solidFill>
            <a:srgbClr val="D9EED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289792" y="8851392"/>
            <a:ext cx="2170175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50" b="0" i="1" u="none">
                <a:solidFill>
                  <a:srgbClr val="2E7D32"/>
                </a:solidFill>
                <a:latin typeface="Georgia"/>
                <a:cs typeface="Georgia"/>
              </a:rPr>
              <a:t>cold-normal band</a:t>
            </a:r>
          </a:p>
        </p:txBody>
      </p:sp>
      <p:sp>
        <p:nvSpPr>
          <p:cNvPr id="86" name="Oval 85"/>
          <p:cNvSpPr/>
          <p:nvPr/>
        </p:nvSpPr>
        <p:spPr>
          <a:xfrm>
            <a:off x="11399519" y="8942832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2746736" y="8650224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2929615" y="8586215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 i="0" u="none">
                <a:solidFill>
                  <a:srgbClr val="C0392B"/>
                </a:solidFill>
                <a:latin typeface="Segoe UI"/>
                <a:cs typeface="Segoe UI"/>
              </a:rPr>
              <a:t>fault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289792" y="9326880"/>
            <a:ext cx="686815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250" b="1" i="0" u="none">
                <a:solidFill>
                  <a:srgbClr val="FFFFFF"/>
                </a:solidFill>
                <a:latin typeface="Segoe UI"/>
                <a:cs typeface="Segoe UI"/>
              </a:rPr>
              <a:t>GREEN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2031472" y="9326880"/>
            <a:ext cx="686815" cy="292608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250" b="1" i="0" u="none">
                <a:solidFill>
                  <a:srgbClr val="FFFFFF"/>
                </a:solidFill>
                <a:latin typeface="Segoe UI"/>
                <a:cs typeface="Segoe UI"/>
              </a:rPr>
              <a:t>AMBER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773151" y="9326880"/>
            <a:ext cx="686815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250" b="1" i="0" u="none">
                <a:solidFill>
                  <a:srgbClr val="FFFFFF"/>
                </a:solidFill>
                <a:latin typeface="Segoe UI"/>
                <a:cs typeface="Segoe UI"/>
              </a:rPr>
              <a:t>RED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34927" y="9656063"/>
            <a:ext cx="2279904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0" i="1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engages only when confident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045184" y="1783080"/>
            <a:ext cx="3840479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 u="none">
                <a:solidFill>
                  <a:srgbClr val="1B5E9E"/>
                </a:solidFill>
                <a:latin typeface="Segoe UI"/>
                <a:cs typeface="Segoe UI"/>
              </a:rPr>
              <a:t>Key Features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045184" y="2450592"/>
            <a:ext cx="3840479" cy="7589520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4959584" y="2596896"/>
            <a:ext cx="283463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Torque fingerprint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959584" y="2962656"/>
            <a:ext cx="2834639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Motor current reveals </a:t>
            </a:r>
            <a:r>
              <a:rPr sz="145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friction, cable stiffness, imbalance and wind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959584" y="3835908"/>
            <a:ext cx="283463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Reference revisits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959584" y="4201668"/>
            <a:ext cx="2834639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4B5563"/>
                </a:solidFill>
                <a:latin typeface="Georgia"/>
                <a:cs typeface="Georgia"/>
              </a:rPr>
              <a:t>Re-fit encoder offset, tilt, flexure, gyro bias and boresight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959584" y="5074920"/>
            <a:ext cx="283463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Live self-model θ(t)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959584" y="5440680"/>
            <a:ext cx="2834639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Updated continuously, with </a:t>
            </a:r>
            <a:r>
              <a:rPr sz="145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its own uncertainty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959584" y="6313932"/>
            <a:ext cx="283463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Adaptive control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959584" y="6679692"/>
            <a:ext cx="2834639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ADRC + feedforward from the </a:t>
            </a:r>
            <a:r>
              <a:rPr sz="145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measured plant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959584" y="7552944"/>
            <a:ext cx="283463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Cold vs broken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959584" y="7918704"/>
            <a:ext cx="2834639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Health judged against </a:t>
            </a:r>
            <a:r>
              <a:rPr sz="145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cold-normal bands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959584" y="8791956"/>
            <a:ext cx="2834639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Capability check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959584" y="9157716"/>
            <a:ext cx="2834639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4B5563"/>
                </a:solidFill>
                <a:latin typeface="Georgia"/>
                <a:cs typeface="Georgia"/>
              </a:rPr>
              <a:t>Predicts jitter, range and handoff; engages only when confident</a:t>
            </a:r>
          </a:p>
        </p:txBody>
      </p:sp>
      <p:pic>
        <p:nvPicPr>
          <p:cNvPr id="3" name="ICON snow">
            <a:extLst>
              <a:ext uri="{FF2B5EF4-FFF2-40B4-BE49-F238E27FC236}">
                <a16:creationId xmlns:a16="http://schemas.microsoft.com/office/drawing/2014/main" id="{3E1C51B9-108E-7D29-0081-C02F33EABB2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216" y="2967228"/>
            <a:ext cx="749808" cy="749808"/>
          </a:xfrm>
          <a:prstGeom prst="rect">
            <a:avLst/>
          </a:prstGeom>
        </p:spPr>
      </p:pic>
      <p:pic>
        <p:nvPicPr>
          <p:cNvPr id="5" name="ICON sunwind">
            <a:extLst>
              <a:ext uri="{FF2B5EF4-FFF2-40B4-BE49-F238E27FC236}">
                <a16:creationId xmlns:a16="http://schemas.microsoft.com/office/drawing/2014/main" id="{48845031-C10F-8BF2-C5E3-02D00F0D553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5216" y="4903013"/>
            <a:ext cx="749808" cy="749808"/>
          </a:xfrm>
          <a:prstGeom prst="rect">
            <a:avLst/>
          </a:prstGeom>
        </p:spPr>
      </p:pic>
      <p:pic>
        <p:nvPicPr>
          <p:cNvPr id="7" name="ICON frozen">
            <a:extLst>
              <a:ext uri="{FF2B5EF4-FFF2-40B4-BE49-F238E27FC236}">
                <a16:creationId xmlns:a16="http://schemas.microsoft.com/office/drawing/2014/main" id="{7E66C1A8-F615-8047-8103-6C5F4D209167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216" y="6838797"/>
            <a:ext cx="749808" cy="749808"/>
          </a:xfrm>
          <a:prstGeom prst="rect">
            <a:avLst/>
          </a:prstGeom>
        </p:spPr>
      </p:pic>
      <p:pic>
        <p:nvPicPr>
          <p:cNvPr id="9" name="ICON silent">
            <a:extLst>
              <a:ext uri="{FF2B5EF4-FFF2-40B4-BE49-F238E27FC236}">
                <a16:creationId xmlns:a16="http://schemas.microsoft.com/office/drawing/2014/main" id="{03F04FA9-C57E-0956-F469-416D4929E7A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216" y="8774582"/>
            <a:ext cx="749808" cy="749808"/>
          </a:xfrm>
          <a:prstGeom prst="rect">
            <a:avLst/>
          </a:prstGeom>
        </p:spPr>
      </p:pic>
      <p:pic>
        <p:nvPicPr>
          <p:cNvPr id="13" name="ICON torque">
            <a:extLst>
              <a:ext uri="{FF2B5EF4-FFF2-40B4-BE49-F238E27FC236}">
                <a16:creationId xmlns:a16="http://schemas.microsoft.com/office/drawing/2014/main" id="{BD19B171-0577-3878-F445-CA87F8B96532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89320" y="8732520"/>
            <a:ext cx="457200" cy="457200"/>
          </a:xfrm>
          <a:prstGeom prst="rect">
            <a:avLst/>
          </a:prstGeom>
        </p:spPr>
      </p:pic>
      <p:pic>
        <p:nvPicPr>
          <p:cNvPr id="15" name="ICON torque">
            <a:extLst>
              <a:ext uri="{FF2B5EF4-FFF2-40B4-BE49-F238E27FC236}">
                <a16:creationId xmlns:a16="http://schemas.microsoft.com/office/drawing/2014/main" id="{223C5EA3-983F-CF5C-906C-C396A330DF17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91487" y="2706624"/>
            <a:ext cx="640080" cy="640080"/>
          </a:xfrm>
          <a:prstGeom prst="rect">
            <a:avLst/>
          </a:prstGeom>
        </p:spPr>
      </p:pic>
      <p:pic>
        <p:nvPicPr>
          <p:cNvPr id="108" name="ICON reference">
            <a:extLst>
              <a:ext uri="{FF2B5EF4-FFF2-40B4-BE49-F238E27FC236}">
                <a16:creationId xmlns:a16="http://schemas.microsoft.com/office/drawing/2014/main" id="{32279D0C-EFB9-A5A7-549C-E22C32E88211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191487" y="3945636"/>
            <a:ext cx="640080" cy="640080"/>
          </a:xfrm>
          <a:prstGeom prst="rect">
            <a:avLst/>
          </a:prstGeom>
        </p:spPr>
      </p:pic>
      <p:pic>
        <p:nvPicPr>
          <p:cNvPr id="110" name="ICON selfmodel">
            <a:extLst>
              <a:ext uri="{FF2B5EF4-FFF2-40B4-BE49-F238E27FC236}">
                <a16:creationId xmlns:a16="http://schemas.microsoft.com/office/drawing/2014/main" id="{64CC7114-D89B-C869-4332-AE6A58CE77EB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191487" y="5184648"/>
            <a:ext cx="640080" cy="640080"/>
          </a:xfrm>
          <a:prstGeom prst="rect">
            <a:avLst/>
          </a:prstGeom>
        </p:spPr>
      </p:pic>
      <p:pic>
        <p:nvPicPr>
          <p:cNvPr id="112" name="ICON control">
            <a:extLst>
              <a:ext uri="{FF2B5EF4-FFF2-40B4-BE49-F238E27FC236}">
                <a16:creationId xmlns:a16="http://schemas.microsoft.com/office/drawing/2014/main" id="{C05FDB3C-C85A-47B6-96F0-CCBDFF348F46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191487" y="6423660"/>
            <a:ext cx="640080" cy="640080"/>
          </a:xfrm>
          <a:prstGeom prst="rect">
            <a:avLst/>
          </a:prstGeom>
        </p:spPr>
      </p:pic>
      <p:pic>
        <p:nvPicPr>
          <p:cNvPr id="114" name="ICON band">
            <a:extLst>
              <a:ext uri="{FF2B5EF4-FFF2-40B4-BE49-F238E27FC236}">
                <a16:creationId xmlns:a16="http://schemas.microsoft.com/office/drawing/2014/main" id="{857A8F31-A488-26DF-049E-6CDE60F919CA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4191487" y="7662672"/>
            <a:ext cx="640080" cy="640080"/>
          </a:xfrm>
          <a:prstGeom prst="rect">
            <a:avLst/>
          </a:prstGeom>
        </p:spPr>
      </p:pic>
      <p:pic>
        <p:nvPicPr>
          <p:cNvPr id="116" name="ICON gate">
            <a:extLst>
              <a:ext uri="{FF2B5EF4-FFF2-40B4-BE49-F238E27FC236}">
                <a16:creationId xmlns:a16="http://schemas.microsoft.com/office/drawing/2014/main" id="{A2E16A8F-C153-483E-3B9B-B7DAF16D9EC6}"/>
              </a:ext>
            </a:extLst>
          </p:cNvPr>
          <p:cNvPicPr>
            <a:picLocks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4191487" y="8901684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15" name="Team badge"/>
          <p:cNvSpPr/>
          <p:nvPr/>
        </p:nvSpPr>
        <p:spPr>
          <a:xfrm>
            <a:off x="228600" y="100584"/>
            <a:ext cx="2816352" cy="1225296"/>
          </a:xfrm>
          <a:prstGeom prst="ellipse">
            <a:avLst/>
          </a:prstGeom>
          <a:solidFill>
            <a:srgbClr val="EEF2F8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am wordmark"/>
          <p:cNvSpPr txBox="1"/>
          <p:nvPr/>
        </p:nvSpPr>
        <p:spPr>
          <a:xfrm>
            <a:off x="228600" y="274320"/>
            <a:ext cx="2816352" cy="8778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 i="0" u="none">
                <a:solidFill>
                  <a:srgbClr val="22324D"/>
                </a:solidFill>
                <a:latin typeface="Segoe UI"/>
                <a:cs typeface="Segoe UI"/>
              </a:rPr>
              <a:t>WeAreDoomed</a:t>
            </a:r>
          </a:p>
          <a:p>
            <a:pPr algn="ctr"/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Team ID 165054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3246120" y="164592"/>
            <a:ext cx="11247120" cy="1298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200" b="1" i="0" u="none">
                <a:solidFill>
                  <a:srgbClr val="111827"/>
                </a:solidFill>
                <a:latin typeface="Times New Roman"/>
                <a:cs typeface="Times New Roman"/>
              </a:rPr>
              <a:t>TECHNICAL APPROACH</a:t>
            </a:r>
          </a:p>
        </p:txBody>
      </p:sp>
      <p:cxnSp>
        <p:nvCxnSpPr>
          <p:cNvPr id="18" name="Header rule"/>
          <p:cNvCxnSpPr/>
          <p:nvPr/>
        </p:nvCxnSpPr>
        <p:spPr>
          <a:xfrm>
            <a:off x="374904" y="1636776"/>
            <a:ext cx="17556480" cy="0"/>
          </a:xfrm>
          <a:prstGeom prst="line">
            <a:avLst/>
          </a:prstGeom>
          <a:ln w="9525">
            <a:solidFill>
              <a:srgbClr val="2B2B2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02336" y="17556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00" b="1" i="0" u="none">
                <a:solidFill>
                  <a:srgbClr val="C8541A"/>
                </a:solidFill>
                <a:latin typeface="Segoe UI"/>
                <a:cs typeface="Segoe UI"/>
              </a:rPr>
              <a:t>1  SENSE THE EFFECTS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8616" y="1755648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00" b="1" i="0" u="none">
                <a:solidFill>
                  <a:srgbClr val="2E7D32"/>
                </a:solidFill>
                <a:latin typeface="Segoe UI"/>
                <a:cs typeface="Segoe UI"/>
              </a:rPr>
              <a:t>2  BUILD THE SELF-MODEL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1755648"/>
            <a:ext cx="6364223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100" b="1" i="0" u="none">
                <a:solidFill>
                  <a:srgbClr val="1B5E9E"/>
                </a:solidFill>
                <a:latin typeface="Segoe UI"/>
                <a:cs typeface="Segoe UI"/>
              </a:rPr>
              <a:t>3  CORRECT · JUDGE · DECLARE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2267712"/>
            <a:ext cx="4114800" cy="4069080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28616" y="2267712"/>
            <a:ext cx="5486400" cy="4069080"/>
          </a:xfrm>
          <a:prstGeom prst="rect">
            <a:avLst/>
          </a:prstGeom>
          <a:solidFill>
            <a:srgbClr val="F4FAF4"/>
          </a:solidFill>
          <a:ln w="15875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521440" y="2267712"/>
            <a:ext cx="6364223" cy="4069080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30352" y="2395728"/>
            <a:ext cx="3858768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246888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Motor &amp; 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2788920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motor current · encoders · IMU gyro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383280"/>
            <a:ext cx="3858768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98448" y="345643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Reference imaging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77647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narrow camera on markers, ridges, stars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370832"/>
            <a:ext cx="3858768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98448" y="444398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Target sensing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76402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wide camera (search) · rotor photodiode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5358384"/>
            <a:ext cx="3858768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98448" y="543153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Environment (</a:t>
            </a:r>
            <a:r>
              <a:rPr sz="1600" b="1" i="0" u="none">
                <a:solidFill>
                  <a:srgbClr val="1F2937"/>
                </a:solidFill>
                <a:highlight>
                  <a:srgbClr val="FFF5B0"/>
                </a:highlight>
                <a:latin typeface="Segoe UI"/>
                <a:cs typeface="Segoe UI"/>
              </a:rPr>
              <a:t>priors only</a:t>
            </a:r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751576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</a:pPr>
            <a:r>
              <a:rPr sz="1400" b="0" i="0" u="none">
                <a:solidFill>
                  <a:srgbClr val="4B5563"/>
                </a:solidFill>
                <a:latin typeface="Georgia"/>
                <a:cs typeface="Georgia"/>
              </a:rPr>
              <a:t>temperature · pressure · humidity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44568" y="4302252"/>
            <a:ext cx="356615" cy="0"/>
          </a:xfrm>
          <a:prstGeom prst="line">
            <a:avLst/>
          </a:prstGeom>
          <a:ln w="25400">
            <a:solidFill>
              <a:srgbClr val="22324D"/>
            </a:solidFill>
            <a:tailEnd type="triangle" w="med" len="med"/>
          </a:ln>
        </p:spPr>
      </p:cxnSp>
      <p:sp>
        <p:nvSpPr>
          <p:cNvPr id="38" name="Rounded Rectangle 37"/>
          <p:cNvSpPr/>
          <p:nvPr/>
        </p:nvSpPr>
        <p:spPr>
          <a:xfrm>
            <a:off x="5056631" y="2395728"/>
            <a:ext cx="523036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733288" y="2542032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FAST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2487168"/>
            <a:ext cx="3584448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Torque fingerprint</a:t>
            </a:r>
            <a:r>
              <a:rPr sz="1400" b="0" i="1" u="none">
                <a:solidFill>
                  <a:srgbClr val="4B5563"/>
                </a:solidFill>
                <a:latin typeface="Georgia"/>
                <a:cs typeface="Georgia"/>
              </a:rPr>
              <a:t xml:space="preserve">   </a:t>
            </a:r>
            <a:r>
              <a:rPr sz="1400" b="0" i="1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every control cycle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4647" y="3017520"/>
            <a:ext cx="1487423" cy="438912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motor current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99503" y="3236976"/>
            <a:ext cx="20116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43" name="Rounded Rectangle 42"/>
          <p:cNvSpPr/>
          <p:nvPr/>
        </p:nvSpPr>
        <p:spPr>
          <a:xfrm>
            <a:off x="6928103" y="3017520"/>
            <a:ext cx="1487423" cy="438912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disturbance torque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42959" y="3236976"/>
            <a:ext cx="20116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8671559" y="3017520"/>
            <a:ext cx="1487423" cy="438912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RLS split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84647" y="3639312"/>
            <a:ext cx="997745" cy="310896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2E7D32"/>
                </a:solidFill>
                <a:latin typeface="Segoe UI"/>
                <a:cs typeface="Segoe UI"/>
              </a:rPr>
              <a:t>friction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55545" y="3639312"/>
            <a:ext cx="767496" cy="310896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2E7D32"/>
                </a:solidFill>
                <a:latin typeface="Segoe UI"/>
                <a:cs typeface="Segoe UI"/>
              </a:rPr>
              <a:t>cable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96193" y="3639312"/>
            <a:ext cx="1074494" cy="310896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2E7D32"/>
                </a:solidFill>
                <a:latin typeface="Segoe UI"/>
                <a:cs typeface="Segoe UI"/>
              </a:rPr>
              <a:t>imbalance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43840" y="3639312"/>
            <a:ext cx="1151244" cy="310896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2E7D32"/>
                </a:solidFill>
                <a:latin typeface="Segoe UI"/>
                <a:cs typeface="Segoe UI"/>
              </a:rPr>
              <a:t>plant gain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68237" y="3639312"/>
            <a:ext cx="690746" cy="310896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2E7D32"/>
                </a:solidFill>
                <a:latin typeface="Segoe UI"/>
                <a:cs typeface="Segoe UI"/>
              </a:rPr>
              <a:t>wind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56631" y="4151376"/>
            <a:ext cx="523036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733288" y="429768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SLOW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242816"/>
            <a:ext cx="3584448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F2937"/>
                </a:solidFill>
                <a:latin typeface="Segoe UI"/>
                <a:cs typeface="Segoe UI"/>
              </a:rPr>
              <a:t>Reference revisit</a:t>
            </a:r>
            <a:r>
              <a:rPr sz="1400" b="0" i="1" u="none">
                <a:solidFill>
                  <a:srgbClr val="4B5563"/>
                </a:solidFill>
                <a:latin typeface="Georgia"/>
                <a:cs typeface="Georgia"/>
              </a:rPr>
              <a:t xml:space="preserve">   </a:t>
            </a:r>
            <a:r>
              <a:rPr sz="1400" b="0" i="1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every few minutes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84647" y="4773168"/>
            <a:ext cx="1487423" cy="438912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re-image references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99503" y="4992624"/>
            <a:ext cx="20116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6" name="Rounded Rectangle 55"/>
          <p:cNvSpPr/>
          <p:nvPr/>
        </p:nvSpPr>
        <p:spPr>
          <a:xfrm>
            <a:off x="6928103" y="4773168"/>
            <a:ext cx="1487423" cy="438912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sub-pixel offsets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442959" y="4992624"/>
            <a:ext cx="20116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8" name="Rounded Rectangle 57"/>
          <p:cNvSpPr/>
          <p:nvPr/>
        </p:nvSpPr>
        <p:spPr>
          <a:xfrm>
            <a:off x="8671559" y="4773168"/>
            <a:ext cx="1487423" cy="438912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WLS aim fit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84647" y="5394960"/>
            <a:ext cx="1205899" cy="310896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encoder zero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63699" y="5394960"/>
            <a:ext cx="638417" cy="310896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tilt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75269" y="5394960"/>
            <a:ext cx="851223" cy="310896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flexure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99644" y="5394960"/>
            <a:ext cx="993093" cy="310896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gyro bias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65890" y="5394960"/>
            <a:ext cx="993093" cy="310896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1B5E9E"/>
                </a:solidFill>
                <a:latin typeface="Segoe UI"/>
                <a:cs typeface="Segoe UI"/>
              </a:rPr>
              <a:t>boresight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56631" y="5888736"/>
            <a:ext cx="523036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50" b="1" i="0" u="none">
                <a:solidFill>
                  <a:srgbClr val="2E7D32"/>
                </a:solidFill>
                <a:latin typeface="Segoe UI"/>
                <a:cs typeface="Segoe UI"/>
              </a:rPr>
              <a:t>one live self-model  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θ(t) ± σ  via RLS + Kalman + WLS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287000" y="3246120"/>
            <a:ext cx="429767" cy="754380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</p:cxnSp>
      <p:cxnSp>
        <p:nvCxnSpPr>
          <p:cNvPr id="66" name="Connector 65"/>
          <p:cNvCxnSpPr/>
          <p:nvPr/>
        </p:nvCxnSpPr>
        <p:spPr>
          <a:xfrm flipV="1">
            <a:off x="10287000" y="4604004"/>
            <a:ext cx="429767" cy="434340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</p:cxnSp>
      <p:sp>
        <p:nvSpPr>
          <p:cNvPr id="67" name="Oval 66"/>
          <p:cNvSpPr/>
          <p:nvPr/>
        </p:nvSpPr>
        <p:spPr>
          <a:xfrm>
            <a:off x="10552176" y="3881628"/>
            <a:ext cx="841248" cy="841248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2000" b="1" i="0" u="none">
                <a:solidFill>
                  <a:srgbClr val="FFFFFF"/>
                </a:solidFill>
                <a:latin typeface="Segoe UI"/>
                <a:cs typeface="Segoe UI"/>
              </a:rPr>
              <a:t>θ(t)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1402567" y="4302252"/>
            <a:ext cx="237745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</p:cxnSp>
      <p:sp>
        <p:nvSpPr>
          <p:cNvPr id="69" name="Rounded Rectangle 68"/>
          <p:cNvSpPr/>
          <p:nvPr/>
        </p:nvSpPr>
        <p:spPr>
          <a:xfrm>
            <a:off x="11649456" y="2377440"/>
            <a:ext cx="6108191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07824" y="2450592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B5E9E"/>
                </a:solidFill>
                <a:latin typeface="Segoe UI"/>
                <a:cs typeface="Segoe UI"/>
              </a:rPr>
              <a:t>Correct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759184" y="2907792"/>
            <a:ext cx="1780031" cy="384048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ADRC + feedforward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3566647" y="3099816"/>
            <a:ext cx="21945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3" name="Rounded Rectangle 72"/>
          <p:cNvSpPr/>
          <p:nvPr/>
        </p:nvSpPr>
        <p:spPr>
          <a:xfrm>
            <a:off x="13813535" y="2907792"/>
            <a:ext cx="1780031" cy="384048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FOC motor drives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5620999" y="3099816"/>
            <a:ext cx="219456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5" name="Rounded Rectangle 74"/>
          <p:cNvSpPr/>
          <p:nvPr/>
        </p:nvSpPr>
        <p:spPr>
          <a:xfrm>
            <a:off x="15867887" y="2907792"/>
            <a:ext cx="1780031" cy="384048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direct-drive gimbal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59184" y="3319272"/>
            <a:ext cx="588873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 i="1" u="none">
                <a:solidFill>
                  <a:srgbClr val="4B5563"/>
                </a:solidFill>
                <a:latin typeface="Georgia"/>
                <a:cs typeface="Georgia"/>
              </a:rPr>
              <a:t>pointing model, gyro bias and boresight applied to every command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649456" y="3675887"/>
            <a:ext cx="6108191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307824" y="3749039"/>
            <a:ext cx="5330951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B5E9E"/>
                </a:solidFill>
                <a:latin typeface="Segoe UI"/>
                <a:cs typeface="Segoe UI"/>
              </a:rPr>
              <a:t>Judge</a:t>
            </a:r>
            <a:r>
              <a:rPr sz="1400" b="0" i="1" u="none">
                <a:solidFill>
                  <a:srgbClr val="4B5563"/>
                </a:solidFill>
                <a:latin typeface="Georgia"/>
                <a:cs typeface="Georgia"/>
              </a:rPr>
              <a:t>   θ vs the cold-normal band at this temperature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759184" y="4206240"/>
            <a:ext cx="2889503" cy="365760"/>
          </a:xfrm>
          <a:prstGeom prst="roundRect">
            <a:avLst>
              <a:gd name="adj" fmla="val 5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50" b="1" i="0" u="none">
                <a:solidFill>
                  <a:srgbClr val="2E7D32"/>
                </a:solidFill>
                <a:latin typeface="Segoe UI"/>
                <a:cs typeface="Segoe UI"/>
              </a:rPr>
              <a:t>inside band → cold, normal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758416" y="4206240"/>
            <a:ext cx="2889503" cy="365760"/>
          </a:xfrm>
          <a:prstGeom prst="roundRect">
            <a:avLst>
              <a:gd name="adj" fmla="val 50000"/>
            </a:avLst>
          </a:prstGeom>
          <a:solidFill>
            <a:srgbClr val="FB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50" b="1" i="0" u="none">
                <a:solidFill>
                  <a:srgbClr val="C0392B"/>
                </a:solidFill>
                <a:latin typeface="Segoe UI"/>
                <a:cs typeface="Segoe UI"/>
              </a:rPr>
              <a:t xml:space="preserve">outside band → </a:t>
            </a:r>
            <a:r>
              <a:rPr sz="1350" b="1" i="0" u="none">
                <a:solidFill>
                  <a:srgbClr val="C0392B"/>
                </a:solidFill>
                <a:highlight>
                  <a:srgbClr val="FFF5B0"/>
                </a:highlight>
                <a:latin typeface="Segoe UI"/>
                <a:cs typeface="Segoe UI"/>
              </a:rPr>
              <a:t>fault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759184" y="4590288"/>
            <a:ext cx="588873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50" b="0" i="1" u="none">
                <a:solidFill>
                  <a:srgbClr val="4B5563"/>
                </a:solidFill>
                <a:latin typeface="Georgia"/>
                <a:cs typeface="Georgia"/>
              </a:rPr>
              <a:t>a fault is e.g. ice load, joint slip or harness damage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649456" y="4974336"/>
            <a:ext cx="6108191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2307824" y="5047488"/>
            <a:ext cx="5330951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1B5E9E"/>
                </a:solidFill>
                <a:latin typeface="Segoe UI"/>
                <a:cs typeface="Segoe UI"/>
              </a:rPr>
              <a:t>Declare</a:t>
            </a:r>
            <a:r>
              <a:rPr sz="1400" b="0" i="1" u="none">
                <a:solidFill>
                  <a:srgbClr val="4B5563"/>
                </a:solidFill>
                <a:latin typeface="Georgia"/>
                <a:cs typeface="Georgia"/>
              </a:rPr>
              <a:t>   jitter · handoff · ID range · confidence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759184" y="5650992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GREEN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2792455" y="5650992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AMBER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3825727" y="5650992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RED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4904719" y="5824727"/>
            <a:ext cx="457200" cy="0"/>
          </a:xfrm>
          <a:prstGeom prst="line">
            <a:avLst/>
          </a:prstGeom>
          <a:ln w="19050">
            <a:solidFill>
              <a:srgbClr val="22324D"/>
            </a:solidFill>
            <a:tailEnd type="triangle" w="med" len="med"/>
          </a:ln>
        </p:spPr>
      </p:cxnSp>
      <p:sp>
        <p:nvSpPr>
          <p:cNvPr id="88" name="Rounded Rectangle 87"/>
          <p:cNvSpPr/>
          <p:nvPr/>
        </p:nvSpPr>
        <p:spPr>
          <a:xfrm>
            <a:off x="15425927" y="5614416"/>
            <a:ext cx="2221991" cy="420624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engagement gate → </a:t>
            </a:r>
            <a:r>
              <a:rPr sz="140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EO / laser payload</a:t>
            </a:r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 interface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02336" y="6583680"/>
            <a:ext cx="17483327" cy="548640"/>
          </a:xfrm>
          <a:prstGeom prst="roundRect">
            <a:avLst>
              <a:gd name="adj" fmla="val 30000"/>
            </a:avLst>
          </a:prstGeom>
          <a:solidFill>
            <a:srgbClr val="EEF6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115568" y="6583680"/>
            <a:ext cx="16568927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2E7D32"/>
                </a:solidFill>
                <a:latin typeface="Segoe UI"/>
                <a:cs typeface="Segoe UI"/>
              </a:rPr>
              <a:t>VERIFY   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every reference revisit compares the predicted accuracy with the measured one, then updates θ(t)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4703551" y="6355079"/>
            <a:ext cx="0" cy="210313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</p:cxnSp>
      <p:cxnSp>
        <p:nvCxnSpPr>
          <p:cNvPr id="92" name="Connector 91"/>
          <p:cNvCxnSpPr/>
          <p:nvPr/>
        </p:nvCxnSpPr>
        <p:spPr>
          <a:xfrm flipV="1">
            <a:off x="7671816" y="6355079"/>
            <a:ext cx="0" cy="210313"/>
          </a:xfrm>
          <a:prstGeom prst="line">
            <a:avLst/>
          </a:prstGeom>
          <a:ln w="22225">
            <a:solidFill>
              <a:srgbClr val="2E7D32"/>
            </a:solidFill>
            <a:tailEnd type="triangle" w="med" len="med"/>
          </a:ln>
        </p:spPr>
      </p:cxnSp>
      <p:sp>
        <p:nvSpPr>
          <p:cNvPr id="93" name="Rounded Rectangle 92"/>
          <p:cNvSpPr/>
          <p:nvPr/>
        </p:nvSpPr>
        <p:spPr>
          <a:xfrm>
            <a:off x="402336" y="7296912"/>
            <a:ext cx="2325188" cy="658368"/>
          </a:xfrm>
          <a:prstGeom prst="roundRect">
            <a:avLst>
              <a:gd name="adj" fmla="val 12000"/>
            </a:avLst>
          </a:prstGeom>
          <a:solidFill>
            <a:srgbClr val="FBE9E6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Environment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cold · wind · dust · snow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2745812" y="7626096"/>
            <a:ext cx="164592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95" name="Rounded Rectangle 94"/>
          <p:cNvSpPr/>
          <p:nvPr/>
        </p:nvSpPr>
        <p:spPr>
          <a:xfrm>
            <a:off x="2928692" y="7296912"/>
            <a:ext cx="2325188" cy="658368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Sensing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cameras · IMU · encoders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272169" y="7626096"/>
            <a:ext cx="164592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97" name="Rounded Rectangle 96"/>
          <p:cNvSpPr/>
          <p:nvPr/>
        </p:nvSpPr>
        <p:spPr>
          <a:xfrm>
            <a:off x="5455049" y="7296912"/>
            <a:ext cx="2325188" cy="658368"/>
          </a:xfrm>
          <a:prstGeom prst="roundRect">
            <a:avLst>
              <a:gd name="adj" fmla="val 12000"/>
            </a:avLst>
          </a:prstGeom>
          <a:solidFill>
            <a:srgbClr val="EAF4E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Self-model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θ(t) + health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798525" y="7626096"/>
            <a:ext cx="164592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99" name="Rounded Rectangle 98"/>
          <p:cNvSpPr/>
          <p:nvPr/>
        </p:nvSpPr>
        <p:spPr>
          <a:xfrm>
            <a:off x="7981405" y="7296912"/>
            <a:ext cx="2325188" cy="658368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Adaptive control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ADRC + motor drives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324882" y="7626096"/>
            <a:ext cx="164592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101" name="Rounded Rectangle 100"/>
          <p:cNvSpPr/>
          <p:nvPr/>
        </p:nvSpPr>
        <p:spPr>
          <a:xfrm>
            <a:off x="10507762" y="7296912"/>
            <a:ext cx="2325188" cy="658368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Pointing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2-axis gimbal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2851238" y="7626096"/>
            <a:ext cx="164592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103" name="Rounded Rectangle 102"/>
          <p:cNvSpPr/>
          <p:nvPr/>
        </p:nvSpPr>
        <p:spPr>
          <a:xfrm>
            <a:off x="13034118" y="7296912"/>
            <a:ext cx="2325188" cy="658368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Track &amp; identify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camera + rotor signal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5377595" y="7626096"/>
            <a:ext cx="164592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105" name="Rounded Rectangle 104"/>
          <p:cNvSpPr/>
          <p:nvPr/>
        </p:nvSpPr>
        <p:spPr>
          <a:xfrm>
            <a:off x="15560475" y="7296912"/>
            <a:ext cx="2325188" cy="658368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Stable aim output</a:t>
            </a:r>
          </a:p>
          <a:p>
            <a:pPr algn="ctr"/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EO / laser payload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2336" y="8028431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 i="0" u="none">
                <a:solidFill>
                  <a:srgbClr val="C8541A"/>
                </a:solidFill>
                <a:latin typeface="Segoe UI"/>
                <a:cs typeface="Segoe UI"/>
              </a:rPr>
              <a:t>Technology Stack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02336" y="8503920"/>
            <a:ext cx="2791967" cy="15361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30352" y="8577072"/>
            <a:ext cx="260908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 u="none">
                <a:solidFill>
                  <a:srgbClr val="1B5E9E"/>
                </a:solidFill>
                <a:latin typeface="Segoe UI"/>
                <a:cs typeface="Segoe UI"/>
              </a:rPr>
              <a:t>ACTUATION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0352" y="8906256"/>
            <a:ext cx="2609087" cy="1133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BLDC direct drive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Magnetic encoders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MCU + FOC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Aluminium frame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340607" y="8503920"/>
            <a:ext cx="2791967" cy="15361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468623" y="8577072"/>
            <a:ext cx="260908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 u="none">
                <a:solidFill>
                  <a:srgbClr val="1B5E9E"/>
                </a:solidFill>
                <a:latin typeface="Segoe UI"/>
                <a:cs typeface="Segoe UI"/>
              </a:rPr>
              <a:t>COMPUTE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68623" y="8906256"/>
            <a:ext cx="2609087" cy="1133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Raspberry Pi 5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MCU real-time loops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Local display + logs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4G / Wi-Fi link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78880" y="8503920"/>
            <a:ext cx="2791967" cy="15361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406895" y="8577072"/>
            <a:ext cx="260908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 u="none">
                <a:solidFill>
                  <a:srgbClr val="1B5E9E"/>
                </a:solidFill>
                <a:latin typeface="Segoe UI"/>
                <a:cs typeface="Segoe UI"/>
              </a:rPr>
              <a:t>SENSING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6895" y="8906256"/>
            <a:ext cx="2609087" cy="1133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IMU + cameras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Current + temperature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Pressure + humidity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Rotor photodiode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17151" y="8503920"/>
            <a:ext cx="2791967" cy="15361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345167" y="8577072"/>
            <a:ext cx="260908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 u="none">
                <a:solidFill>
                  <a:srgbClr val="1B5E9E"/>
                </a:solidFill>
                <a:latin typeface="Segoe UI"/>
                <a:cs typeface="Segoe UI"/>
              </a:rPr>
              <a:t>CONTROL &amp; ESTIMATION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345167" y="8906256"/>
            <a:ext cx="2609087" cy="1133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ADRC control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RLS torque ID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Kalman + WLS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2155423" y="8503920"/>
            <a:ext cx="2791967" cy="15361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2283439" y="8577072"/>
            <a:ext cx="260908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 u="none">
                <a:solidFill>
                  <a:srgbClr val="1B5E9E"/>
                </a:solidFill>
                <a:latin typeface="Segoe UI"/>
                <a:cs typeface="Segoe UI"/>
              </a:rPr>
              <a:t>VISION &amp; AI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283439" y="8906256"/>
            <a:ext cx="2609087" cy="1133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TPOINT aim model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Sub-pixel tracking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ONNX drone classifier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5093695" y="8503920"/>
            <a:ext cx="2791967" cy="15361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5221711" y="8577072"/>
            <a:ext cx="260908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50" b="1" i="0" u="none">
                <a:solidFill>
                  <a:srgbClr val="1B5E9E"/>
                </a:solidFill>
                <a:latin typeface="Segoe UI"/>
                <a:cs typeface="Segoe UI"/>
              </a:rPr>
              <a:t>POWER &amp; HEALTH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221711" y="8906256"/>
            <a:ext cx="2609087" cy="11338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Low-temp Li-ion pack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•  </a:t>
            </a:r>
            <a:r>
              <a:rPr sz="14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3 selective heaters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DC-DC power mgmt</a:t>
            </a:r>
          </a:p>
          <a:p>
            <a:pPr algn="l">
              <a:spcBef>
                <a:spcPts val="100"/>
              </a:spcBef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•  Health + capability check</a:t>
            </a:r>
          </a:p>
        </p:txBody>
      </p:sp>
      <p:pic>
        <p:nvPicPr>
          <p:cNvPr id="3" name="ICON motor">
            <a:extLst>
              <a:ext uri="{FF2B5EF4-FFF2-40B4-BE49-F238E27FC236}">
                <a16:creationId xmlns:a16="http://schemas.microsoft.com/office/drawing/2014/main" id="{839EE438-40DB-5DFE-BC72-FB7DA6E7D8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578608"/>
            <a:ext cx="530352" cy="530352"/>
          </a:xfrm>
          <a:prstGeom prst="rect">
            <a:avLst/>
          </a:prstGeom>
        </p:spPr>
      </p:pic>
      <p:pic>
        <p:nvPicPr>
          <p:cNvPr id="5" name="ICON camera">
            <a:extLst>
              <a:ext uri="{FF2B5EF4-FFF2-40B4-BE49-F238E27FC236}">
                <a16:creationId xmlns:a16="http://schemas.microsoft.com/office/drawing/2014/main" id="{FE872ABB-5F15-1365-EAE5-0E8C914E32E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" y="3566160"/>
            <a:ext cx="530352" cy="530352"/>
          </a:xfrm>
          <a:prstGeom prst="rect">
            <a:avLst/>
          </a:prstGeom>
        </p:spPr>
      </p:pic>
      <p:pic>
        <p:nvPicPr>
          <p:cNvPr id="7" name="ICON rotor">
            <a:extLst>
              <a:ext uri="{FF2B5EF4-FFF2-40B4-BE49-F238E27FC236}">
                <a16:creationId xmlns:a16="http://schemas.microsoft.com/office/drawing/2014/main" id="{9060600B-5801-4DE4-38C4-E879098C17B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80" y="4553712"/>
            <a:ext cx="530352" cy="530352"/>
          </a:xfrm>
          <a:prstGeom prst="rect">
            <a:avLst/>
          </a:prstGeom>
        </p:spPr>
      </p:pic>
      <p:pic>
        <p:nvPicPr>
          <p:cNvPr id="9" name="ICON thermal">
            <a:extLst>
              <a:ext uri="{FF2B5EF4-FFF2-40B4-BE49-F238E27FC236}">
                <a16:creationId xmlns:a16="http://schemas.microsoft.com/office/drawing/2014/main" id="{3BE1A485-F0E8-1F1F-6AF2-5029C2DF763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" y="5541264"/>
            <a:ext cx="530352" cy="530352"/>
          </a:xfrm>
          <a:prstGeom prst="rect">
            <a:avLst/>
          </a:prstGeom>
        </p:spPr>
      </p:pic>
      <p:pic>
        <p:nvPicPr>
          <p:cNvPr id="11" name="ICON torque">
            <a:extLst>
              <a:ext uri="{FF2B5EF4-FFF2-40B4-BE49-F238E27FC236}">
                <a16:creationId xmlns:a16="http://schemas.microsoft.com/office/drawing/2014/main" id="{B4F88C28-44E8-308D-9990-69A04F4628C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4648" y="2505456"/>
            <a:ext cx="457200" cy="457200"/>
          </a:xfrm>
          <a:prstGeom prst="rect">
            <a:avLst/>
          </a:prstGeom>
        </p:spPr>
      </p:pic>
      <p:pic>
        <p:nvPicPr>
          <p:cNvPr id="125" name="ICON reference">
            <a:extLst>
              <a:ext uri="{FF2B5EF4-FFF2-40B4-BE49-F238E27FC236}">
                <a16:creationId xmlns:a16="http://schemas.microsoft.com/office/drawing/2014/main" id="{B5CD5846-776E-A39F-1C21-2D860B803234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84648" y="4261104"/>
            <a:ext cx="457200" cy="457200"/>
          </a:xfrm>
          <a:prstGeom prst="rect">
            <a:avLst/>
          </a:prstGeom>
        </p:spPr>
      </p:pic>
      <p:pic>
        <p:nvPicPr>
          <p:cNvPr id="127" name="ICON control">
            <a:extLst>
              <a:ext uri="{FF2B5EF4-FFF2-40B4-BE49-F238E27FC236}">
                <a16:creationId xmlns:a16="http://schemas.microsoft.com/office/drawing/2014/main" id="{E21714A2-8DB1-2B4C-3FAB-ECC035571EFE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59184" y="2487168"/>
            <a:ext cx="457200" cy="457200"/>
          </a:xfrm>
          <a:prstGeom prst="rect">
            <a:avLst/>
          </a:prstGeom>
        </p:spPr>
      </p:pic>
      <p:pic>
        <p:nvPicPr>
          <p:cNvPr id="129" name="ICON band">
            <a:extLst>
              <a:ext uri="{FF2B5EF4-FFF2-40B4-BE49-F238E27FC236}">
                <a16:creationId xmlns:a16="http://schemas.microsoft.com/office/drawing/2014/main" id="{9E666446-A5CC-33BB-457D-AC51EAA46C23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759184" y="3785616"/>
            <a:ext cx="457200" cy="457200"/>
          </a:xfrm>
          <a:prstGeom prst="rect">
            <a:avLst/>
          </a:prstGeom>
        </p:spPr>
      </p:pic>
      <p:pic>
        <p:nvPicPr>
          <p:cNvPr id="131" name="ICON gate">
            <a:extLst>
              <a:ext uri="{FF2B5EF4-FFF2-40B4-BE49-F238E27FC236}">
                <a16:creationId xmlns:a16="http://schemas.microsoft.com/office/drawing/2014/main" id="{2A4BF0BD-0131-40B5-53B8-9C483CA1384F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759184" y="5084064"/>
            <a:ext cx="457200" cy="457200"/>
          </a:xfrm>
          <a:prstGeom prst="rect">
            <a:avLst/>
          </a:prstGeom>
        </p:spPr>
      </p:pic>
      <p:pic>
        <p:nvPicPr>
          <p:cNvPr id="133" name="ICON verify">
            <a:extLst>
              <a:ext uri="{FF2B5EF4-FFF2-40B4-BE49-F238E27FC236}">
                <a16:creationId xmlns:a16="http://schemas.microsoft.com/office/drawing/2014/main" id="{C3031856-160C-4BFC-33AB-262B8D8D15BE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5216" y="6647688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15" name="Team badge"/>
          <p:cNvSpPr/>
          <p:nvPr/>
        </p:nvSpPr>
        <p:spPr>
          <a:xfrm>
            <a:off x="228600" y="100584"/>
            <a:ext cx="2816352" cy="1225296"/>
          </a:xfrm>
          <a:prstGeom prst="ellipse">
            <a:avLst/>
          </a:prstGeom>
          <a:solidFill>
            <a:srgbClr val="EEF2F8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am wordmark"/>
          <p:cNvSpPr txBox="1"/>
          <p:nvPr/>
        </p:nvSpPr>
        <p:spPr>
          <a:xfrm>
            <a:off x="228600" y="274320"/>
            <a:ext cx="2816352" cy="8778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 i="0" u="none">
                <a:solidFill>
                  <a:srgbClr val="22324D"/>
                </a:solidFill>
                <a:latin typeface="Segoe UI"/>
                <a:cs typeface="Segoe UI"/>
              </a:rPr>
              <a:t>WeAreDoomed</a:t>
            </a:r>
          </a:p>
          <a:p>
            <a:pPr algn="ctr"/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Team ID 165054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3246120" y="164592"/>
            <a:ext cx="11247120" cy="1298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200" b="1" i="0" u="none">
                <a:solidFill>
                  <a:srgbClr val="111827"/>
                </a:solidFill>
                <a:latin typeface="Times New Roman"/>
                <a:cs typeface="Times New Roman"/>
              </a:rPr>
              <a:t>FEASIBILITY AND VIABILITY</a:t>
            </a:r>
          </a:p>
        </p:txBody>
      </p:sp>
      <p:cxnSp>
        <p:nvCxnSpPr>
          <p:cNvPr id="18" name="Header rule"/>
          <p:cNvCxnSpPr/>
          <p:nvPr/>
        </p:nvCxnSpPr>
        <p:spPr>
          <a:xfrm>
            <a:off x="374904" y="1636776"/>
            <a:ext cx="17556480" cy="0"/>
          </a:xfrm>
          <a:prstGeom prst="line">
            <a:avLst/>
          </a:prstGeom>
          <a:ln w="9525">
            <a:solidFill>
              <a:srgbClr val="2B2B2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02336" y="178308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 i="0" u="none">
                <a:solidFill>
                  <a:srgbClr val="2E7D32"/>
                </a:solidFill>
                <a:latin typeface="Segoe UI"/>
                <a:cs typeface="Segoe UI"/>
              </a:rPr>
              <a:t>Why It Is Feasible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82144" y="178308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 i="0" u="none">
                <a:solidFill>
                  <a:srgbClr val="C8541A"/>
                </a:solidFill>
                <a:latin typeface="Segoe UI"/>
                <a:cs typeface="Segoe UI"/>
              </a:rPr>
              <a:t>Prototype Build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2304288"/>
            <a:ext cx="11887200" cy="2377440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26464" y="2487168"/>
            <a:ext cx="28193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Off-the-shelf parts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2871216"/>
            <a:ext cx="2819399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BLDC motors, encoders, Pi 5 and MCU are all </a:t>
            </a:r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COTS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8864" y="2487168"/>
            <a:ext cx="28193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No radar, laser or 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8864" y="2871216"/>
            <a:ext cx="2819399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the method </a:t>
            </a:r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proves itself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 without them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1264" y="2487168"/>
            <a:ext cx="28193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Pi 5 + MCU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1264" y="2871216"/>
            <a:ext cx="2819399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vision on the Pi, real-time loops on the MCU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3602736"/>
            <a:ext cx="28193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Heat only 3 parts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3986783"/>
            <a:ext cx="2819399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battery, IMU and optical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8864" y="3602736"/>
            <a:ext cx="28193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−40 °C campus bench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8864" y="3986783"/>
            <a:ext cx="2819399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dry-ice box, fan, IR lamp and shaker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1264" y="3602736"/>
            <a:ext cx="28193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Proven methods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1264" y="3986783"/>
            <a:ext cx="2819399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ADRC, RLS, </a:t>
            </a:r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Kalman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 and vision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582144" y="2304288"/>
            <a:ext cx="5303519" cy="2377440"/>
          </a:xfrm>
          <a:prstGeom prst="rect">
            <a:avLst/>
          </a:prstGeom>
          <a:solidFill>
            <a:srgbClr val="FFF8EE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765024" y="2395728"/>
            <a:ext cx="502919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200" b="1" i="0" u="none">
                <a:solidFill>
                  <a:srgbClr val="22324D"/>
                </a:solidFill>
                <a:latin typeface="Segoe UI"/>
                <a:cs typeface="Segoe UI"/>
              </a:rPr>
              <a:t>≈ ₹1.33 lakh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   one prototype incl. test bench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765024" y="3090672"/>
            <a:ext cx="3807318" cy="384048"/>
          </a:xfrm>
          <a:prstGeom prst="rect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Segoe UI"/>
                <a:cs typeface="Segoe UI"/>
              </a:rPr>
              <a:t>Pointing head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572342" y="3090672"/>
            <a:ext cx="1130441" cy="384048"/>
          </a:xfrm>
          <a:prstGeom prst="rect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Segoe UI"/>
                <a:cs typeface="Segoe UI"/>
              </a:rPr>
              <a:t>Bench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65024" y="3511296"/>
            <a:ext cx="380731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≈ ₹97k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06582" y="3511296"/>
            <a:ext cx="149620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400" b="0" i="0" u="none">
                <a:solidFill>
                  <a:srgbClr val="1F2937"/>
                </a:solidFill>
                <a:latin typeface="Georgia"/>
                <a:cs typeface="Georgia"/>
              </a:rPr>
              <a:t>≈ ₹29k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65024" y="3840480"/>
            <a:ext cx="502919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Avoided by design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765024" y="4169664"/>
            <a:ext cx="11795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5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250" b="1" i="0" u="none">
                <a:solidFill>
                  <a:srgbClr val="C8541A"/>
                </a:solidFill>
                <a:latin typeface="Segoe UI"/>
                <a:cs typeface="Segoe UI"/>
              </a:rPr>
              <a:t>FOG gyro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017751" y="4169664"/>
            <a:ext cx="11795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5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250" b="1" i="0" u="none">
                <a:solidFill>
                  <a:srgbClr val="C8541A"/>
                </a:solidFill>
                <a:latin typeface="Segoe UI"/>
                <a:cs typeface="Segoe UI"/>
              </a:rPr>
              <a:t>heated head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270480" y="4169664"/>
            <a:ext cx="11795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5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250" b="1" i="0" u="none">
                <a:solidFill>
                  <a:srgbClr val="C8541A"/>
                </a:solidFill>
                <a:latin typeface="Segoe UI"/>
                <a:cs typeface="Segoe UI"/>
              </a:rPr>
              <a:t>event camera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523208" y="4169664"/>
            <a:ext cx="11795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85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250" b="1" i="0" u="none">
                <a:solidFill>
                  <a:srgbClr val="C8541A"/>
                </a:solidFill>
                <a:latin typeface="Segoe UI"/>
                <a:cs typeface="Segoe UI"/>
              </a:rPr>
              <a:t>GPU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82144" y="4700016"/>
            <a:ext cx="5303519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50" b="0" i="1" u="none">
                <a:solidFill>
                  <a:srgbClr val="4B5563"/>
                </a:solidFill>
                <a:latin typeface="Georgia"/>
                <a:cs typeface="Georgia"/>
              </a:rPr>
              <a:t xml:space="preserve">itemised BOM + </a:t>
            </a:r>
            <a:r>
              <a:rPr sz="1250" b="0" i="1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5% contingency</a:t>
            </a:r>
            <a:r>
              <a:rPr sz="1250" b="0" i="1" u="none">
                <a:solidFill>
                  <a:srgbClr val="4B5563"/>
                </a:solidFill>
                <a:latin typeface="Georgia"/>
                <a:cs typeface="Georgia"/>
              </a:rPr>
              <a:t xml:space="preserve"> · see Budget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" y="486460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 i="0" u="none">
                <a:solidFill>
                  <a:srgbClr val="1B5E9E"/>
                </a:solidFill>
                <a:latin typeface="Segoe UI"/>
                <a:cs typeface="Segoe UI"/>
              </a:rPr>
              <a:t>How We Actually Build 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20040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Physics proof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cold-box curves: cable, friction, drift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452877" y="6126480"/>
            <a:ext cx="146305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2" name="Rectangle 51"/>
          <p:cNvSpPr/>
          <p:nvPr/>
        </p:nvSpPr>
        <p:spPr>
          <a:xfrm>
            <a:off x="2608325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526029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63189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Mechanical head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81477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2-axis direct-drive gimbal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658867" y="6126480"/>
            <a:ext cx="146304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7" name="Rectangle 56"/>
          <p:cNvSpPr/>
          <p:nvPr/>
        </p:nvSpPr>
        <p:spPr>
          <a:xfrm>
            <a:off x="4814316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732020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69179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Embedded sensing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87468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FOC, current sense, timestamps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864857" y="6126480"/>
            <a:ext cx="146304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2" name="Rectangle 61"/>
          <p:cNvSpPr/>
          <p:nvPr/>
        </p:nvSpPr>
        <p:spPr>
          <a:xfrm>
            <a:off x="7020305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938009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75169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Control stack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93457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ADRC, RLS, revisit fit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070847" y="6126480"/>
            <a:ext cx="146304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7" name="Rectangle 66"/>
          <p:cNvSpPr/>
          <p:nvPr/>
        </p:nvSpPr>
        <p:spPr>
          <a:xfrm>
            <a:off x="9226295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143999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59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Cold &amp; wind tests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99447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−40 °C, wind, vibration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276837" y="6126480"/>
            <a:ext cx="146304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2" name="Rectangle 71"/>
          <p:cNvSpPr/>
          <p:nvPr/>
        </p:nvSpPr>
        <p:spPr>
          <a:xfrm>
            <a:off x="11432285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349989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87149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Prediction check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505437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predicted vs measured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3482827" y="6126480"/>
            <a:ext cx="146304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7" name="Rectangle 76"/>
          <p:cNvSpPr/>
          <p:nvPr/>
        </p:nvSpPr>
        <p:spPr>
          <a:xfrm>
            <a:off x="13638275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3555979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693139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Integration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711427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cue → track → ID → gate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5688817" y="6126480"/>
            <a:ext cx="146304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82" name="Rectangle 81"/>
          <p:cNvSpPr/>
          <p:nvPr/>
        </p:nvSpPr>
        <p:spPr>
          <a:xfrm>
            <a:off x="15844265" y="5431536"/>
            <a:ext cx="2041397" cy="1389888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5761969" y="5303520"/>
            <a:ext cx="329184" cy="329184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899129" y="6035040"/>
            <a:ext cx="1931669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Final demo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917417" y="6327648"/>
            <a:ext cx="1895093" cy="49377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</a:pPr>
            <a:r>
              <a:rPr sz="1350" b="0" i="0" u="none">
                <a:solidFill>
                  <a:srgbClr val="4B5563"/>
                </a:solidFill>
                <a:latin typeface="Georgia"/>
                <a:cs typeface="Georgia"/>
              </a:rPr>
              <a:t>live A/B in the cold box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336" y="6967728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 i="0" u="none">
                <a:solidFill>
                  <a:srgbClr val="C8541A"/>
                </a:solidFill>
                <a:latin typeface="Segoe UI"/>
                <a:cs typeface="Segoe UI"/>
              </a:rPr>
              <a:t>Key Risks and How We Handle Them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336" y="7479792"/>
            <a:ext cx="17483327" cy="2560320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11480" y="7488936"/>
            <a:ext cx="17465039" cy="384048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48640" y="7479792"/>
            <a:ext cx="3840480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B5E9E"/>
                </a:solidFill>
                <a:latin typeface="Segoe UI"/>
                <a:cs typeface="Segoe UI"/>
              </a:rPr>
              <a:t>RISK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0" y="7479792"/>
            <a:ext cx="4389120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B5E9E"/>
                </a:solidFill>
                <a:latin typeface="Segoe UI"/>
                <a:cs typeface="Segoe UI"/>
              </a:rPr>
              <a:t>WHAT IT WOULD CAUSE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0" y="7479792"/>
            <a:ext cx="8705087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B5E9E"/>
                </a:solidFill>
                <a:latin typeface="Segoe UI"/>
                <a:cs typeface="Segoe UI"/>
              </a:rPr>
              <a:t>HOW WE HANDLE 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7891271"/>
            <a:ext cx="384048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22324D"/>
                </a:solidFill>
                <a:latin typeface="Segoe UI"/>
                <a:cs typeface="Segoe UI"/>
              </a:rPr>
              <a:t>µrad accuracy is hard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7891271"/>
            <a:ext cx="438912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4B5563"/>
                </a:solidFill>
                <a:latin typeface="Georgia"/>
                <a:cs typeface="Georgia"/>
              </a:rPr>
              <a:t>a small angle error is a big miss at range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7891271"/>
            <a:ext cx="8705087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sub-pixel tracking and optical-lever checks;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validated at −40 °C, wind, vibration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12064" y="8249412"/>
            <a:ext cx="17263871" cy="0"/>
          </a:xfrm>
          <a:prstGeom prst="line">
            <a:avLst/>
          </a:prstGeom>
          <a:ln w="9525">
            <a:solidFill>
              <a:srgbClr val="CDD5DF"/>
            </a:solidFill>
          </a:ln>
        </p:spPr>
      </p:cxnSp>
      <p:sp>
        <p:nvSpPr>
          <p:cNvPr id="96" name="TextBox 95"/>
          <p:cNvSpPr txBox="1"/>
          <p:nvPr/>
        </p:nvSpPr>
        <p:spPr>
          <a:xfrm>
            <a:off x="548640" y="8249412"/>
            <a:ext cx="384048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22324D"/>
                </a:solidFill>
                <a:latin typeface="Segoe UI"/>
                <a:cs typeface="Segoe UI"/>
              </a:rPr>
              <a:t>Snow or cloud hides references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0" y="8249412"/>
            <a:ext cx="438912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4B5563"/>
                </a:solidFill>
                <a:latin typeface="Georgia"/>
                <a:cs typeface="Georgia"/>
              </a:rPr>
              <a:t>aim drift goes unmeasured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44000" y="8249412"/>
            <a:ext cx="8705087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markers + terrain + stars;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uncertainty grows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, so the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declared capability drops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12064" y="8607551"/>
            <a:ext cx="17263871" cy="0"/>
          </a:xfrm>
          <a:prstGeom prst="line">
            <a:avLst/>
          </a:prstGeom>
          <a:ln w="9525">
            <a:solidFill>
              <a:srgbClr val="CDD5DF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548640" y="8607551"/>
            <a:ext cx="384048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22324D"/>
                </a:solidFill>
                <a:latin typeface="Segoe UI"/>
                <a:cs typeface="Segoe UI"/>
              </a:rPr>
              <a:t>Estimator drift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0" y="8607551"/>
            <a:ext cx="438912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4B5563"/>
                </a:solidFill>
                <a:latin typeface="Georgia"/>
                <a:cs typeface="Georgia"/>
              </a:rPr>
              <a:t>wrong compensation at low excitation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8607551"/>
            <a:ext cx="8705087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excitation gating and bounded estimates;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fall back to bench values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12064" y="8965692"/>
            <a:ext cx="17263871" cy="0"/>
          </a:xfrm>
          <a:prstGeom prst="line">
            <a:avLst/>
          </a:prstGeom>
          <a:ln w="9525">
            <a:solidFill>
              <a:srgbClr val="CDD5DF"/>
            </a:solidFill>
          </a:ln>
        </p:spPr>
      </p:cxnSp>
      <p:sp>
        <p:nvSpPr>
          <p:cNvPr id="104" name="TextBox 103"/>
          <p:cNvSpPr txBox="1"/>
          <p:nvPr/>
        </p:nvSpPr>
        <p:spPr>
          <a:xfrm>
            <a:off x="548640" y="8965692"/>
            <a:ext cx="384048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22324D"/>
                </a:solidFill>
                <a:latin typeface="Segoe UI"/>
                <a:cs typeface="Segoe UI"/>
              </a:rPr>
              <a:t>Frost or dust on optics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0" y="8965692"/>
            <a:ext cx="438912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4B5563"/>
                </a:solidFill>
                <a:latin typeface="Georgia"/>
                <a:cs typeface="Georgia"/>
              </a:rPr>
              <a:t>blurred view, shorter ID range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44000" y="8965692"/>
            <a:ext cx="8705087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heated window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; image-quality check on reference textures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12064" y="9323831"/>
            <a:ext cx="17263871" cy="0"/>
          </a:xfrm>
          <a:prstGeom prst="line">
            <a:avLst/>
          </a:prstGeom>
          <a:ln w="9525">
            <a:solidFill>
              <a:srgbClr val="CDD5DF"/>
            </a:solidFill>
          </a:ln>
        </p:spPr>
      </p:cxnSp>
      <p:sp>
        <p:nvSpPr>
          <p:cNvPr id="108" name="TextBox 107"/>
          <p:cNvSpPr txBox="1"/>
          <p:nvPr/>
        </p:nvSpPr>
        <p:spPr>
          <a:xfrm>
            <a:off x="548640" y="9323831"/>
            <a:ext cx="384048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22324D"/>
                </a:solidFill>
                <a:latin typeface="Segoe UI"/>
                <a:cs typeface="Segoe UI"/>
              </a:rPr>
              <a:t>Cold battery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0" y="9323831"/>
            <a:ext cx="438912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4B5563"/>
                </a:solidFill>
                <a:latin typeface="Georgia"/>
                <a:cs typeface="Georgia"/>
              </a:rPr>
              <a:t>brownouts, short endurance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9323831"/>
            <a:ext cx="8705087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insulated heated pack;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cold-charge lockout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12064" y="9681972"/>
            <a:ext cx="17263871" cy="0"/>
          </a:xfrm>
          <a:prstGeom prst="line">
            <a:avLst/>
          </a:prstGeom>
          <a:ln w="9525">
            <a:solidFill>
              <a:srgbClr val="CDD5DF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548640" y="9681972"/>
            <a:ext cx="384048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22324D"/>
                </a:solidFill>
                <a:latin typeface="Segoe UI"/>
                <a:cs typeface="Segoe UI"/>
              </a:rPr>
              <a:t>Revisit leaves the sector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0" y="9681972"/>
            <a:ext cx="4389120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4B5563"/>
                </a:solidFill>
                <a:latin typeface="Georgia"/>
                <a:cs typeface="Georgia"/>
              </a:rPr>
              <a:t>brief gap in watch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0" y="9681972"/>
            <a:ext cx="8705087" cy="3581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revisits are </a:t>
            </a:r>
            <a:r>
              <a:rPr sz="15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interruptible</a:t>
            </a: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 and run when idle</a:t>
            </a:r>
          </a:p>
        </p:txBody>
      </p:sp>
      <p:pic>
        <p:nvPicPr>
          <p:cNvPr id="3" name="ICON cots">
            <a:extLst>
              <a:ext uri="{FF2B5EF4-FFF2-40B4-BE49-F238E27FC236}">
                <a16:creationId xmlns:a16="http://schemas.microsoft.com/office/drawing/2014/main" id="{FE42163E-86FA-24E1-7D18-1560817BA6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04" y="2578608"/>
            <a:ext cx="676656" cy="676656"/>
          </a:xfrm>
          <a:prstGeom prst="rect">
            <a:avLst/>
          </a:prstGeom>
        </p:spPr>
      </p:pic>
      <p:pic>
        <p:nvPicPr>
          <p:cNvPr id="5" name="ICON noheavy">
            <a:extLst>
              <a:ext uri="{FF2B5EF4-FFF2-40B4-BE49-F238E27FC236}">
                <a16:creationId xmlns:a16="http://schemas.microsoft.com/office/drawing/2014/main" id="{56E301C1-C77F-1AD4-4C89-E39DCEB2578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5904" y="2578608"/>
            <a:ext cx="676656" cy="676656"/>
          </a:xfrm>
          <a:prstGeom prst="rect">
            <a:avLst/>
          </a:prstGeom>
        </p:spPr>
      </p:pic>
      <p:pic>
        <p:nvPicPr>
          <p:cNvPr id="7" name="ICON chip">
            <a:extLst>
              <a:ext uri="{FF2B5EF4-FFF2-40B4-BE49-F238E27FC236}">
                <a16:creationId xmlns:a16="http://schemas.microsoft.com/office/drawing/2014/main" id="{C6695669-0146-4690-3B31-87F197B387DD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8304" y="2578608"/>
            <a:ext cx="676656" cy="676656"/>
          </a:xfrm>
          <a:prstGeom prst="rect">
            <a:avLst/>
          </a:prstGeom>
        </p:spPr>
      </p:pic>
      <p:pic>
        <p:nvPicPr>
          <p:cNvPr id="9" name="ICON battery">
            <a:extLst>
              <a:ext uri="{FF2B5EF4-FFF2-40B4-BE49-F238E27FC236}">
                <a16:creationId xmlns:a16="http://schemas.microsoft.com/office/drawing/2014/main" id="{1D9D0875-5A4B-002D-3A92-FD4AC75088D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504" y="3694176"/>
            <a:ext cx="676656" cy="676656"/>
          </a:xfrm>
          <a:prstGeom prst="rect">
            <a:avLst/>
          </a:prstGeom>
        </p:spPr>
      </p:pic>
      <p:pic>
        <p:nvPicPr>
          <p:cNvPr id="11" name="ICON bench">
            <a:extLst>
              <a:ext uri="{FF2B5EF4-FFF2-40B4-BE49-F238E27FC236}">
                <a16:creationId xmlns:a16="http://schemas.microsoft.com/office/drawing/2014/main" id="{0A0173CA-DB70-DEFC-EFD7-ABC61FFCF10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65904" y="3694176"/>
            <a:ext cx="676656" cy="676656"/>
          </a:xfrm>
          <a:prstGeom prst="rect">
            <a:avLst/>
          </a:prstGeom>
        </p:spPr>
      </p:pic>
      <p:pic>
        <p:nvPicPr>
          <p:cNvPr id="115" name="ICON code">
            <a:extLst>
              <a:ext uri="{FF2B5EF4-FFF2-40B4-BE49-F238E27FC236}">
                <a16:creationId xmlns:a16="http://schemas.microsoft.com/office/drawing/2014/main" id="{54D9C11F-5547-766B-DF37-67D162266FB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28304" y="3694176"/>
            <a:ext cx="676656" cy="676656"/>
          </a:xfrm>
          <a:prstGeom prst="rect">
            <a:avLst/>
          </a:prstGeom>
        </p:spPr>
      </p:pic>
      <p:pic>
        <p:nvPicPr>
          <p:cNvPr id="117" name="ICON metro">
            <a:extLst>
              <a:ext uri="{FF2B5EF4-FFF2-40B4-BE49-F238E27FC236}">
                <a16:creationId xmlns:a16="http://schemas.microsoft.com/office/drawing/2014/main" id="{2A11E457-0DFE-0F33-8641-BDA5FCB4E410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85291" y="5522976"/>
            <a:ext cx="475488" cy="475488"/>
          </a:xfrm>
          <a:prstGeom prst="rect">
            <a:avLst/>
          </a:prstGeom>
        </p:spPr>
      </p:pic>
      <p:pic>
        <p:nvPicPr>
          <p:cNvPr id="119" name="ICON gimbal">
            <a:extLst>
              <a:ext uri="{FF2B5EF4-FFF2-40B4-BE49-F238E27FC236}">
                <a16:creationId xmlns:a16="http://schemas.microsoft.com/office/drawing/2014/main" id="{AF609EA1-40A3-B52B-6B1B-0D3A5ECFCEB6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91281" y="5522976"/>
            <a:ext cx="475488" cy="475488"/>
          </a:xfrm>
          <a:prstGeom prst="rect">
            <a:avLst/>
          </a:prstGeom>
        </p:spPr>
      </p:pic>
      <p:pic>
        <p:nvPicPr>
          <p:cNvPr id="121" name="ICON chip">
            <a:extLst>
              <a:ext uri="{FF2B5EF4-FFF2-40B4-BE49-F238E27FC236}">
                <a16:creationId xmlns:a16="http://schemas.microsoft.com/office/drawing/2014/main" id="{FC5375A8-5512-645A-0B7F-6CDFD884EB7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7271" y="5522976"/>
            <a:ext cx="475488" cy="475488"/>
          </a:xfrm>
          <a:prstGeom prst="rect">
            <a:avLst/>
          </a:prstGeom>
        </p:spPr>
      </p:pic>
      <p:pic>
        <p:nvPicPr>
          <p:cNvPr id="123" name="ICON control">
            <a:extLst>
              <a:ext uri="{FF2B5EF4-FFF2-40B4-BE49-F238E27FC236}">
                <a16:creationId xmlns:a16="http://schemas.microsoft.com/office/drawing/2014/main" id="{CACDC80B-3AAC-BE96-2E43-73BC183CACE3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03261" y="5522976"/>
            <a:ext cx="475488" cy="475488"/>
          </a:xfrm>
          <a:prstGeom prst="rect">
            <a:avLst/>
          </a:prstGeom>
        </p:spPr>
      </p:pic>
      <p:pic>
        <p:nvPicPr>
          <p:cNvPr id="125" name="ICON snow">
            <a:extLst>
              <a:ext uri="{FF2B5EF4-FFF2-40B4-BE49-F238E27FC236}">
                <a16:creationId xmlns:a16="http://schemas.microsoft.com/office/drawing/2014/main" id="{A87725E7-9A97-D5B0-2FB7-BCC2099662D0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009251" y="5522976"/>
            <a:ext cx="475488" cy="475488"/>
          </a:xfrm>
          <a:prstGeom prst="rect">
            <a:avLst/>
          </a:prstGeom>
        </p:spPr>
      </p:pic>
      <p:pic>
        <p:nvPicPr>
          <p:cNvPr id="127" name="ICON spectrum">
            <a:extLst>
              <a:ext uri="{FF2B5EF4-FFF2-40B4-BE49-F238E27FC236}">
                <a16:creationId xmlns:a16="http://schemas.microsoft.com/office/drawing/2014/main" id="{D969375F-4B51-6E97-FBE1-B5FE7E41B9D6}"/>
              </a:ext>
            </a:extLst>
          </p:cNvPr>
          <p:cNvPicPr>
            <a:picLocks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215241" y="5522976"/>
            <a:ext cx="475488" cy="475488"/>
          </a:xfrm>
          <a:prstGeom prst="rect">
            <a:avLst/>
          </a:prstGeom>
        </p:spPr>
      </p:pic>
      <p:pic>
        <p:nvPicPr>
          <p:cNvPr id="129" name="ICON chain">
            <a:extLst>
              <a:ext uri="{FF2B5EF4-FFF2-40B4-BE49-F238E27FC236}">
                <a16:creationId xmlns:a16="http://schemas.microsoft.com/office/drawing/2014/main" id="{40FE1F78-3F17-A7E9-F244-6F02162C2CF0}"/>
              </a:ext>
            </a:extLst>
          </p:cNvPr>
          <p:cNvPicPr>
            <a:picLocks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421231" y="5522976"/>
            <a:ext cx="475488" cy="475488"/>
          </a:xfrm>
          <a:prstGeom prst="rect">
            <a:avLst/>
          </a:prstGeom>
        </p:spPr>
      </p:pic>
      <p:pic>
        <p:nvPicPr>
          <p:cNvPr id="131" name="ICON demo">
            <a:extLst>
              <a:ext uri="{FF2B5EF4-FFF2-40B4-BE49-F238E27FC236}">
                <a16:creationId xmlns:a16="http://schemas.microsoft.com/office/drawing/2014/main" id="{BA295D25-983D-426D-5BAB-9F1EAA2EF1EB}"/>
              </a:ext>
            </a:extLst>
          </p:cNvPr>
          <p:cNvPicPr>
            <a:picLocks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627221" y="552297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15" name="Team badge"/>
          <p:cNvSpPr/>
          <p:nvPr/>
        </p:nvSpPr>
        <p:spPr>
          <a:xfrm>
            <a:off x="228600" y="100584"/>
            <a:ext cx="2816352" cy="1225296"/>
          </a:xfrm>
          <a:prstGeom prst="ellipse">
            <a:avLst/>
          </a:prstGeom>
          <a:solidFill>
            <a:srgbClr val="EEF2F8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am wordmark"/>
          <p:cNvSpPr txBox="1"/>
          <p:nvPr/>
        </p:nvSpPr>
        <p:spPr>
          <a:xfrm>
            <a:off x="228600" y="274320"/>
            <a:ext cx="2816352" cy="8778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 i="0" u="none">
                <a:solidFill>
                  <a:srgbClr val="22324D"/>
                </a:solidFill>
                <a:latin typeface="Segoe UI"/>
                <a:cs typeface="Segoe UI"/>
              </a:rPr>
              <a:t>WeAreDoomed</a:t>
            </a:r>
          </a:p>
          <a:p>
            <a:pPr algn="ctr"/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Team ID 165054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3246120" y="164592"/>
            <a:ext cx="11247120" cy="1298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200" b="1" i="0" u="none">
                <a:solidFill>
                  <a:srgbClr val="111827"/>
                </a:solidFill>
                <a:latin typeface="Times New Roman"/>
                <a:cs typeface="Times New Roman"/>
              </a:rPr>
              <a:t>IMPACT AND BENEFITS</a:t>
            </a:r>
          </a:p>
        </p:txBody>
      </p:sp>
      <p:cxnSp>
        <p:nvCxnSpPr>
          <p:cNvPr id="18" name="Header rule"/>
          <p:cNvCxnSpPr/>
          <p:nvPr/>
        </p:nvCxnSpPr>
        <p:spPr>
          <a:xfrm>
            <a:off x="374904" y="1636776"/>
            <a:ext cx="17556480" cy="0"/>
          </a:xfrm>
          <a:prstGeom prst="line">
            <a:avLst/>
          </a:prstGeom>
          <a:ln w="9525">
            <a:solidFill>
              <a:srgbClr val="2B2B2B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02336" y="1783080"/>
            <a:ext cx="5675375" cy="1371600"/>
          </a:xfrm>
          <a:prstGeom prst="rect">
            <a:avLst/>
          </a:prstGeom>
          <a:solidFill>
            <a:srgbClr val="EEF3FA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1783080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000" b="1" i="0" u="none">
                <a:solidFill>
                  <a:srgbClr val="22324D"/>
                </a:solidFill>
                <a:latin typeface="Segoe UI"/>
                <a:cs typeface="Segoe UI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89504" y="2011680"/>
            <a:ext cx="0" cy="914400"/>
          </a:xfrm>
          <a:prstGeom prst="line">
            <a:avLst/>
          </a:prstGeom>
          <a:ln w="12700">
            <a:solidFill>
              <a:srgbClr val="C3CCD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3054096" y="1911095"/>
            <a:ext cx="293217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Manual field recalibrations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2295144"/>
            <a:ext cx="2932175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markers, ridges and stars do the calibrating (</a:t>
            </a:r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design goal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6312" y="1783080"/>
            <a:ext cx="5675375" cy="1371600"/>
          </a:xfrm>
          <a:prstGeom prst="rect">
            <a:avLst/>
          </a:prstGeom>
          <a:solidFill>
            <a:srgbClr val="EEF3FA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97751" y="1783080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000" b="1" i="0" u="none">
                <a:solidFill>
                  <a:srgbClr val="22324D"/>
                </a:solidFill>
                <a:latin typeface="Segoe UI"/>
                <a:cs typeface="Segoe UI"/>
              </a:rP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93480" y="2011680"/>
            <a:ext cx="0" cy="914400"/>
          </a:xfrm>
          <a:prstGeom prst="line">
            <a:avLst/>
          </a:prstGeom>
          <a:ln w="12700">
            <a:solidFill>
              <a:srgbClr val="C3CCD8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8958072" y="1911095"/>
            <a:ext cx="293217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Heated parts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072" y="2295144"/>
            <a:ext cx="2932175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battery · IMU · window, not the whole head, so </a:t>
            </a:r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power stays 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210287" y="1783080"/>
            <a:ext cx="5675375" cy="1371600"/>
          </a:xfrm>
          <a:prstGeom prst="rect">
            <a:avLst/>
          </a:prstGeom>
          <a:solidFill>
            <a:srgbClr val="EEF3FA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01727" y="1783080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800" b="1" i="0" u="none">
                <a:solidFill>
                  <a:srgbClr val="22324D"/>
                </a:solidFill>
                <a:latin typeface="Segoe UI"/>
                <a:cs typeface="Segoe UI"/>
              </a:rPr>
              <a:t>₹1.33 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697455" y="2011680"/>
            <a:ext cx="0" cy="914400"/>
          </a:xfrm>
          <a:prstGeom prst="line">
            <a:avLst/>
          </a:prstGeom>
          <a:ln w="12700">
            <a:solidFill>
              <a:srgbClr val="C3CCD8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14862047" y="1911095"/>
            <a:ext cx="293217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 i="0" u="none">
                <a:solidFill>
                  <a:srgbClr val="1F2937"/>
                </a:solidFill>
                <a:latin typeface="Segoe UI"/>
                <a:cs typeface="Segoe UI"/>
              </a:rPr>
              <a:t>Prototype build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62047" y="2295144"/>
            <a:ext cx="2932175" cy="7863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including the −40 °C test bench (itemised BOM estimate)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3346704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400" b="1" i="0" u="none">
                <a:solidFill>
                  <a:srgbClr val="C8541A"/>
                </a:solidFill>
                <a:latin typeface="Segoe UI"/>
                <a:cs typeface="Segoe UI"/>
              </a:rPr>
              <a:t>Who Could Use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" y="3840480"/>
            <a:ext cx="5257800" cy="4069080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43584" y="3968496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DRDO labs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   laser DEW and EO trackers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4599431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BEL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   D4 / IDD&amp;IS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3584" y="5230367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Army Air Defence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   Ladakh and eastern sector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3584" y="5861303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IAF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   high-altitude airfields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3584" y="6492239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ITBP / CAPF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   posts on the LAC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" y="7123175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Critical infrastructure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   Himalayan sites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" y="7927848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50" b="0" i="1" u="none">
                <a:solidFill>
                  <a:srgbClr val="4B5563"/>
                </a:solidFill>
                <a:latin typeface="Georgia"/>
                <a:cs typeface="Georgia"/>
              </a:rPr>
              <a:t>potential users, no endorsement implied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3346704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400" b="1" i="0" u="none">
                <a:solidFill>
                  <a:srgbClr val="2E7D32"/>
                </a:solidFill>
                <a:latin typeface="Segoe UI"/>
                <a:cs typeface="Segoe UI"/>
              </a:rPr>
              <a:t>Immediate 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384048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 i="0" u="none">
                <a:solidFill>
                  <a:srgbClr val="1B5E9E"/>
                </a:solidFill>
                <a:latin typeface="Segoe UI"/>
                <a:cs typeface="Segoe UI"/>
              </a:rPr>
              <a:t>CAPABILITY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384048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 i="0" u="none">
                <a:solidFill>
                  <a:srgbClr val="1B5E9E"/>
                </a:solidFill>
                <a:latin typeface="Segoe UI"/>
                <a:cs typeface="Segoe UI"/>
              </a:rPr>
              <a:t>WHAT CHANGES ON THE GROUND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04720" y="384048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 i="0" u="none">
                <a:solidFill>
                  <a:srgbClr val="1B5E9E"/>
                </a:solidFill>
                <a:latin typeface="Segoe UI"/>
                <a:cs typeface="Segoe UI"/>
              </a:rPr>
              <a:t>WHY IT MATTERS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4261104"/>
            <a:ext cx="3520440" cy="74980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20840" y="4261104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Torque fingerprint + ADRC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555480" y="4636008"/>
            <a:ext cx="27432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0" name="TextBox 49"/>
          <p:cNvSpPr txBox="1"/>
          <p:nvPr/>
        </p:nvSpPr>
        <p:spPr>
          <a:xfrm>
            <a:off x="9875520" y="4261104"/>
            <a:ext cx="4343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highlight>
                  <a:srgbClr val="FFF5B0"/>
                </a:highlight>
                <a:latin typeface="Segoe UI"/>
                <a:cs typeface="Segoe UI"/>
              </a:rPr>
              <a:t>Aim stays steady</a:t>
            </a:r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 xml:space="preserve"> in cold and wind</a:t>
            </a:r>
          </a:p>
          <a:p>
            <a:pPr algn="l"/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so </a:t>
            </a:r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identification range holds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4264640" y="4636008"/>
            <a:ext cx="56692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2" name="Rounded Rectangle 51"/>
          <p:cNvSpPr/>
          <p:nvPr/>
        </p:nvSpPr>
        <p:spPr>
          <a:xfrm>
            <a:off x="14904720" y="431596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OPERATIONAL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904720" y="4645152"/>
            <a:ext cx="298094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 u="none">
                <a:solidFill>
                  <a:srgbClr val="1F2937"/>
                </a:solidFill>
                <a:latin typeface="Georgia"/>
                <a:cs typeface="Georgia"/>
              </a:rPr>
              <a:t>range preserved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89320" y="5065776"/>
            <a:ext cx="11896344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55" name="Rounded Rectangle 54"/>
          <p:cNvSpPr/>
          <p:nvPr/>
        </p:nvSpPr>
        <p:spPr>
          <a:xfrm>
            <a:off x="5989320" y="5120640"/>
            <a:ext cx="3520440" cy="74980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20840" y="512064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Reference revisits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555480" y="5495544"/>
            <a:ext cx="27432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58" name="TextBox 57"/>
          <p:cNvSpPr txBox="1"/>
          <p:nvPr/>
        </p:nvSpPr>
        <p:spPr>
          <a:xfrm>
            <a:off x="9875520" y="5120640"/>
            <a:ext cx="4343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Boresight, tilt, gyro drift fixed in the field</a:t>
            </a:r>
          </a:p>
          <a:p>
            <a:pPr algn="l"/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with </a:t>
            </a:r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no technician visit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4264640" y="5495544"/>
            <a:ext cx="56692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0" name="Rounded Rectangle 59"/>
          <p:cNvSpPr/>
          <p:nvPr/>
        </p:nvSpPr>
        <p:spPr>
          <a:xfrm>
            <a:off x="14904720" y="5175503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LOGISTICS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904720" y="5504688"/>
            <a:ext cx="298094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 u="none">
                <a:solidFill>
                  <a:srgbClr val="1F2937"/>
                </a:solidFill>
                <a:latin typeface="Georgia"/>
                <a:cs typeface="Georgia"/>
              </a:rPr>
              <a:t>fewer field visits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89320" y="5925312"/>
            <a:ext cx="11896344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63" name="Rounded Rectangle 62"/>
          <p:cNvSpPr/>
          <p:nvPr/>
        </p:nvSpPr>
        <p:spPr>
          <a:xfrm>
            <a:off x="5989320" y="5980175"/>
            <a:ext cx="3520440" cy="74980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720840" y="5980175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Cold-normal health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555480" y="6355079"/>
            <a:ext cx="27432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6" name="TextBox 65"/>
          <p:cNvSpPr txBox="1"/>
          <p:nvPr/>
        </p:nvSpPr>
        <p:spPr>
          <a:xfrm>
            <a:off x="9875520" y="5980175"/>
            <a:ext cx="4343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Cold no longer looks like damage</a:t>
            </a:r>
          </a:p>
          <a:p>
            <a:pPr algn="l"/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real faults</a:t>
            </a:r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 xml:space="preserve"> (ice, slip, harness) flagged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4264640" y="6355079"/>
            <a:ext cx="56692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8" name="Rounded Rectangle 67"/>
          <p:cNvSpPr/>
          <p:nvPr/>
        </p:nvSpPr>
        <p:spPr>
          <a:xfrm>
            <a:off x="14904720" y="6035039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RELIABILITY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904720" y="6364223"/>
            <a:ext cx="298094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 u="none">
                <a:solidFill>
                  <a:srgbClr val="1F2937"/>
                </a:solidFill>
                <a:latin typeface="Georgia"/>
                <a:cs typeface="Georgia"/>
              </a:rPr>
              <a:t>the right alarms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989320" y="6784847"/>
            <a:ext cx="11896344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71" name="Rounded Rectangle 70"/>
          <p:cNvSpPr/>
          <p:nvPr/>
        </p:nvSpPr>
        <p:spPr>
          <a:xfrm>
            <a:off x="5989320" y="6839711"/>
            <a:ext cx="3520440" cy="74980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3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20840" y="6839711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Capability gate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555480" y="7214615"/>
            <a:ext cx="27432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4" name="TextBox 73"/>
          <p:cNvSpPr txBox="1"/>
          <p:nvPr/>
        </p:nvSpPr>
        <p:spPr>
          <a:xfrm>
            <a:off x="9875520" y="6839711"/>
            <a:ext cx="4343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Operator sees the live ID range</a:t>
            </a:r>
          </a:p>
          <a:p>
            <a:pPr algn="l"/>
            <a:r>
              <a:rPr sz="1500" b="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no engagement while aim is uncertain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4264640" y="7214615"/>
            <a:ext cx="566928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6" name="Rounded Rectangle 75"/>
          <p:cNvSpPr/>
          <p:nvPr/>
        </p:nvSpPr>
        <p:spPr>
          <a:xfrm>
            <a:off x="14904720" y="6894575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SAFETY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904720" y="7223759"/>
            <a:ext cx="2980943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0" u="none">
                <a:solidFill>
                  <a:srgbClr val="1F2937"/>
                </a:solidFill>
                <a:latin typeface="Georgia"/>
                <a:cs typeface="Georgia"/>
              </a:rPr>
              <a:t>no blind engagement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2336" y="821131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400" b="1" i="0" u="none">
                <a:solidFill>
                  <a:srgbClr val="1B5E9E"/>
                </a:solidFill>
                <a:latin typeface="Segoe UI"/>
                <a:cs typeface="Segoe UI"/>
              </a:rPr>
              <a:t>Long-Term Value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" y="8686800"/>
            <a:ext cx="5675375" cy="1353312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1298448" y="88148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PLANET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98448" y="9180576"/>
            <a:ext cx="4669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Low-power thermal design · selective heating · reusable hardware · reduced energy use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6312" y="8686800"/>
            <a:ext cx="5675375" cy="1353312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7202424" y="88148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PEOPLE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02424" y="9180576"/>
            <a:ext cx="4669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Reliable tracking · minimal manual calibration · safer operation · self-diagnostics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210287" y="8686800"/>
            <a:ext cx="5675375" cy="1353312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13106399" y="88148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85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8288" rIns="0" bIns="18288" rtlCol="0" anchor="ctr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Segoe UI"/>
                <a:cs typeface="Segoe UI"/>
              </a:rPr>
              <a:t>PROFIT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106399" y="9180576"/>
            <a:ext cx="4669535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550" b="0" i="0" u="none">
                <a:solidFill>
                  <a:srgbClr val="1F2937"/>
                </a:solidFill>
                <a:latin typeface="Georgia"/>
                <a:cs typeface="Georgia"/>
              </a:rPr>
              <a:t>Low-cost prototype · COTS components · modular maintenance · scalable defence integration</a:t>
            </a:r>
          </a:p>
        </p:txBody>
      </p:sp>
      <p:pic>
        <p:nvPicPr>
          <p:cNvPr id="3" name="ICON lab">
            <a:extLst>
              <a:ext uri="{FF2B5EF4-FFF2-40B4-BE49-F238E27FC236}">
                <a16:creationId xmlns:a16="http://schemas.microsoft.com/office/drawing/2014/main" id="{7B72BB0C-1956-6274-D3AB-B461A4B2576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216" y="4023360"/>
            <a:ext cx="475488" cy="475488"/>
          </a:xfrm>
          <a:prstGeom prst="rect">
            <a:avLst/>
          </a:prstGeom>
        </p:spPr>
      </p:pic>
      <p:pic>
        <p:nvPicPr>
          <p:cNvPr id="5" name="ICON factory">
            <a:extLst>
              <a:ext uri="{FF2B5EF4-FFF2-40B4-BE49-F238E27FC236}">
                <a16:creationId xmlns:a16="http://schemas.microsoft.com/office/drawing/2014/main" id="{3D960178-A26D-4F21-A17E-DF87B5BE3F3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216" y="4654296"/>
            <a:ext cx="475488" cy="475488"/>
          </a:xfrm>
          <a:prstGeom prst="rect">
            <a:avLst/>
          </a:prstGeom>
        </p:spPr>
      </p:pic>
      <p:pic>
        <p:nvPicPr>
          <p:cNvPr id="7" name="ICON helmet">
            <a:extLst>
              <a:ext uri="{FF2B5EF4-FFF2-40B4-BE49-F238E27FC236}">
                <a16:creationId xmlns:a16="http://schemas.microsoft.com/office/drawing/2014/main" id="{A37C84C6-1C90-AA60-FF96-3D69ECDF934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5216" y="5285232"/>
            <a:ext cx="475488" cy="475488"/>
          </a:xfrm>
          <a:prstGeom prst="rect">
            <a:avLst/>
          </a:prstGeom>
        </p:spPr>
      </p:pic>
      <p:pic>
        <p:nvPicPr>
          <p:cNvPr id="9" name="ICON airbase">
            <a:extLst>
              <a:ext uri="{FF2B5EF4-FFF2-40B4-BE49-F238E27FC236}">
                <a16:creationId xmlns:a16="http://schemas.microsoft.com/office/drawing/2014/main" id="{EDC04113-EB58-D5F3-402B-D20834046A8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216" y="5916168"/>
            <a:ext cx="475488" cy="475488"/>
          </a:xfrm>
          <a:prstGeom prst="rect">
            <a:avLst/>
          </a:prstGeom>
        </p:spPr>
      </p:pic>
      <p:pic>
        <p:nvPicPr>
          <p:cNvPr id="11" name="ICON outpost">
            <a:extLst>
              <a:ext uri="{FF2B5EF4-FFF2-40B4-BE49-F238E27FC236}">
                <a16:creationId xmlns:a16="http://schemas.microsoft.com/office/drawing/2014/main" id="{690B14A7-210D-E4C0-5740-CD5570C3C37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216" y="6547104"/>
            <a:ext cx="475488" cy="475488"/>
          </a:xfrm>
          <a:prstGeom prst="rect">
            <a:avLst/>
          </a:prstGeom>
        </p:spPr>
      </p:pic>
      <p:pic>
        <p:nvPicPr>
          <p:cNvPr id="88" name="ICON infra">
            <a:extLst>
              <a:ext uri="{FF2B5EF4-FFF2-40B4-BE49-F238E27FC236}">
                <a16:creationId xmlns:a16="http://schemas.microsoft.com/office/drawing/2014/main" id="{BD1E3CAC-CF20-768B-5145-DB401EAEA70E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5216" y="7178040"/>
            <a:ext cx="475488" cy="475488"/>
          </a:xfrm>
          <a:prstGeom prst="rect">
            <a:avLst/>
          </a:prstGeom>
        </p:spPr>
      </p:pic>
      <p:pic>
        <p:nvPicPr>
          <p:cNvPr id="90" name="ICON torque">
            <a:extLst>
              <a:ext uri="{FF2B5EF4-FFF2-40B4-BE49-F238E27FC236}">
                <a16:creationId xmlns:a16="http://schemas.microsoft.com/office/drawing/2014/main" id="{F5283F6C-83FF-DC08-276E-B1957DDF980C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17336" y="4379976"/>
            <a:ext cx="502920" cy="502920"/>
          </a:xfrm>
          <a:prstGeom prst="rect">
            <a:avLst/>
          </a:prstGeom>
        </p:spPr>
      </p:pic>
      <p:pic>
        <p:nvPicPr>
          <p:cNvPr id="92" name="ICON reference">
            <a:extLst>
              <a:ext uri="{FF2B5EF4-FFF2-40B4-BE49-F238E27FC236}">
                <a16:creationId xmlns:a16="http://schemas.microsoft.com/office/drawing/2014/main" id="{A678D3FF-3369-FCD5-7FA9-7F10A331F543}"/>
              </a:ext>
            </a:extLst>
          </p:cNvPr>
          <p:cNvPicPr>
            <a:picLocks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17336" y="5239512"/>
            <a:ext cx="502920" cy="502920"/>
          </a:xfrm>
          <a:prstGeom prst="rect">
            <a:avLst/>
          </a:prstGeom>
        </p:spPr>
      </p:pic>
      <p:pic>
        <p:nvPicPr>
          <p:cNvPr id="94" name="ICON band">
            <a:extLst>
              <a:ext uri="{FF2B5EF4-FFF2-40B4-BE49-F238E27FC236}">
                <a16:creationId xmlns:a16="http://schemas.microsoft.com/office/drawing/2014/main" id="{5947AB59-15A7-06D9-534A-B55D4AAA7A3D}"/>
              </a:ext>
            </a:extLst>
          </p:cNvPr>
          <p:cNvPicPr>
            <a:picLocks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17336" y="6099048"/>
            <a:ext cx="502920" cy="502920"/>
          </a:xfrm>
          <a:prstGeom prst="rect">
            <a:avLst/>
          </a:prstGeom>
        </p:spPr>
      </p:pic>
      <p:pic>
        <p:nvPicPr>
          <p:cNvPr id="96" name="ICON gate">
            <a:extLst>
              <a:ext uri="{FF2B5EF4-FFF2-40B4-BE49-F238E27FC236}">
                <a16:creationId xmlns:a16="http://schemas.microsoft.com/office/drawing/2014/main" id="{E989AD76-73A2-EB94-5DB3-77CC3834CD89}"/>
              </a:ext>
            </a:extLst>
          </p:cNvPr>
          <p:cNvPicPr>
            <a:picLocks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17336" y="6958584"/>
            <a:ext cx="502920" cy="502920"/>
          </a:xfrm>
          <a:prstGeom prst="rect">
            <a:avLst/>
          </a:prstGeom>
        </p:spPr>
      </p:pic>
      <p:pic>
        <p:nvPicPr>
          <p:cNvPr id="98" name="ICON leaf">
            <a:extLst>
              <a:ext uri="{FF2B5EF4-FFF2-40B4-BE49-F238E27FC236}">
                <a16:creationId xmlns:a16="http://schemas.microsoft.com/office/drawing/2014/main" id="{3FA6C691-0FC9-A6BE-6B9B-B46ED34652B4}"/>
              </a:ext>
            </a:extLst>
          </p:cNvPr>
          <p:cNvPicPr>
            <a:picLocks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66928" y="8796528"/>
            <a:ext cx="566928" cy="566928"/>
          </a:xfrm>
          <a:prstGeom prst="rect">
            <a:avLst/>
          </a:prstGeom>
        </p:spPr>
      </p:pic>
      <p:pic>
        <p:nvPicPr>
          <p:cNvPr id="100" name="ICON team">
            <a:extLst>
              <a:ext uri="{FF2B5EF4-FFF2-40B4-BE49-F238E27FC236}">
                <a16:creationId xmlns:a16="http://schemas.microsoft.com/office/drawing/2014/main" id="{CDFA047D-00E8-56A4-1A3A-9D9B1DC2D8D2}"/>
              </a:ext>
            </a:extLst>
          </p:cNvPr>
          <p:cNvPicPr>
            <a:picLocks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70904" y="8796528"/>
            <a:ext cx="566928" cy="566928"/>
          </a:xfrm>
          <a:prstGeom prst="rect">
            <a:avLst/>
          </a:prstGeom>
        </p:spPr>
      </p:pic>
      <p:pic>
        <p:nvPicPr>
          <p:cNvPr id="102" name="ICON rupee">
            <a:extLst>
              <a:ext uri="{FF2B5EF4-FFF2-40B4-BE49-F238E27FC236}">
                <a16:creationId xmlns:a16="http://schemas.microsoft.com/office/drawing/2014/main" id="{A50DBA64-9B98-1F14-7143-B3F9A6A042D6}"/>
              </a:ext>
            </a:extLst>
          </p:cNvPr>
          <p:cNvPicPr>
            <a:picLocks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374880" y="8796528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sp>
        <p:nvSpPr>
          <p:cNvPr id="15" name="Team badge"/>
          <p:cNvSpPr/>
          <p:nvPr/>
        </p:nvSpPr>
        <p:spPr>
          <a:xfrm>
            <a:off x="228600" y="100584"/>
            <a:ext cx="2816352" cy="1225296"/>
          </a:xfrm>
          <a:prstGeom prst="ellipse">
            <a:avLst/>
          </a:prstGeom>
          <a:solidFill>
            <a:srgbClr val="EEF2F8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am wordmark"/>
          <p:cNvSpPr txBox="1"/>
          <p:nvPr/>
        </p:nvSpPr>
        <p:spPr>
          <a:xfrm>
            <a:off x="228600" y="274320"/>
            <a:ext cx="2816352" cy="8778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 i="0" u="none">
                <a:solidFill>
                  <a:srgbClr val="22324D"/>
                </a:solidFill>
                <a:latin typeface="Segoe UI"/>
                <a:cs typeface="Segoe UI"/>
              </a:rPr>
              <a:t>WeAreDoomed</a:t>
            </a:r>
          </a:p>
          <a:p>
            <a:pPr algn="ctr"/>
            <a:r>
              <a:rPr sz="1500" b="0" i="0" u="none">
                <a:solidFill>
                  <a:srgbClr val="4B5563"/>
                </a:solidFill>
                <a:latin typeface="Georgia"/>
                <a:cs typeface="Georgia"/>
              </a:rPr>
              <a:t>Team ID 165054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3246120" y="164592"/>
            <a:ext cx="11247120" cy="1298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5200" b="1" i="0" u="none">
                <a:solidFill>
                  <a:srgbClr val="111827"/>
                </a:solidFill>
                <a:latin typeface="Times New Roman"/>
                <a:cs typeface="Times New Roman"/>
              </a:rPr>
              <a:t>RESEARCH AND REFERENCES</a:t>
            </a:r>
          </a:p>
        </p:txBody>
      </p:sp>
      <p:cxnSp>
        <p:nvCxnSpPr>
          <p:cNvPr id="18" name="Header rule"/>
          <p:cNvCxnSpPr/>
          <p:nvPr/>
        </p:nvCxnSpPr>
        <p:spPr>
          <a:xfrm>
            <a:off x="374904" y="1636776"/>
            <a:ext cx="17556480" cy="0"/>
          </a:xfrm>
          <a:prstGeom prst="line">
            <a:avLst/>
          </a:prstGeom>
          <a:ln w="9525">
            <a:solidFill>
              <a:srgbClr val="2B2B2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02336" y="1755648"/>
            <a:ext cx="164592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800" b="1" i="0" u="none">
                <a:solidFill>
                  <a:srgbClr val="2E7D32"/>
                </a:solidFill>
                <a:latin typeface="Segoe UI"/>
                <a:cs typeface="Segoe UI"/>
              </a:rPr>
              <a:t>Research</a:t>
            </a:r>
            <a:r>
              <a:rPr sz="1500" b="0" i="1" u="none">
                <a:solidFill>
                  <a:srgbClr val="4B5563"/>
                </a:solidFill>
                <a:latin typeface="Georgia"/>
                <a:cs typeface="Georgia"/>
              </a:rPr>
              <a:t>     what is already published, what it proves, and where it lives in ACHAL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2331720"/>
            <a:ext cx="17483327" cy="640080"/>
          </a:xfrm>
          <a:prstGeom prst="rect">
            <a:avLst/>
          </a:prstGeom>
          <a:solidFill>
            <a:srgbClr val="FFF8EE"/>
          </a:solidFill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331720"/>
            <a:ext cx="1656892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550" b="1" i="0" u="none">
                <a:solidFill>
                  <a:srgbClr val="1F2937"/>
                </a:solidFill>
                <a:latin typeface="Segoe UI"/>
                <a:cs typeface="Segoe UI"/>
              </a:rPr>
              <a:t>Precision counter-drone systems already exist in India: </a:t>
            </a:r>
            <a:r>
              <a:rPr sz="150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D4 (DRDO + BEL), IDD&amp;IS and the Mk-II(A) laser weapon [1–3]. Laser engagement needs </a:t>
            </a:r>
            <a:r>
              <a:rPr sz="150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micro-radian pointing</a:t>
            </a:r>
            <a:r>
              <a:rPr sz="150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; </a:t>
            </a:r>
            <a:r>
              <a:rPr sz="1500" b="1" i="0" u="none">
                <a:solidFill>
                  <a:srgbClr val="C8541A"/>
                </a:solidFill>
                <a:highlight>
                  <a:srgbClr val="FFF5B0"/>
                </a:highlight>
                <a:latin typeface="Segoe UI"/>
                <a:cs typeface="Segoe UI"/>
              </a:rPr>
              <a:t>holding it at altitude is the open gap.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94509" y="2990087"/>
            <a:ext cx="0" cy="155449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402336" y="3163824"/>
            <a:ext cx="2784347" cy="2926080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236976"/>
            <a:ext cx="2016251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Telescope pointing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91363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Star sightings fit a pointing model with </a:t>
            </a:r>
            <a:r>
              <a:rPr b="0" sz="1450" i="0" u="none">
                <a:solidFill>
                  <a:srgbClr val="4B5563"/>
                </a:solidFill>
                <a:highlight>
                  <a:srgbClr val="FFF5B0"/>
                </a:highlight>
                <a:latin typeface="Georgia"/>
                <a:cs typeface="Georgia"/>
              </a:rPr>
              <a:t>thermal and flexure terms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73659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In ACHAL: 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the same model, re-fit from markers, ridges and stars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669280"/>
            <a:ext cx="254660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sng">
                <a:solidFill>
                  <a:srgbClr val="1B5E9E"/>
                </a:solidFill>
                <a:latin typeface="Georgia"/>
                <a:cs typeface="Georgi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TPOINT, Wallace [4]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94509" y="6108192"/>
            <a:ext cx="0" cy="146304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4734305" y="2990087"/>
            <a:ext cx="0" cy="155449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3342131" y="3163824"/>
            <a:ext cx="2784347" cy="2926080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7075" y="3236976"/>
            <a:ext cx="2016251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Disturbance observers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0147" y="391363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Estimating disturbance torque stabilises the line of sight.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0147" y="473659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In ACHAL: 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ADRC rate loop using the plant gain we measure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0147" y="5669280"/>
            <a:ext cx="254660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sng">
                <a:solidFill>
                  <a:srgbClr val="1B5E9E"/>
                </a:solidFill>
                <a:latin typeface="Georgia"/>
                <a:cs typeface="Georgi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Springer, 2020 [5]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34305" y="6108192"/>
            <a:ext cx="0" cy="146304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cxnSp>
        <p:nvCxnSpPr>
          <p:cNvPr id="36" name="Connector 35"/>
          <p:cNvCxnSpPr/>
          <p:nvPr/>
        </p:nvCxnSpPr>
        <p:spPr>
          <a:xfrm>
            <a:off x="7674101" y="2990087"/>
            <a:ext cx="0" cy="155449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6281927" y="3163824"/>
            <a:ext cx="2784347" cy="2926080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76871" y="3236976"/>
            <a:ext cx="2016251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Gimbal torque calibration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943" y="391363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Harness stiffness and friction can be measured and compensated.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3" y="473659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In ACHAL: 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done continuously in the field, not once in a 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3" y="5669280"/>
            <a:ext cx="254660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sng">
                <a:solidFill>
                  <a:srgbClr val="1B5E9E"/>
                </a:solidFill>
                <a:latin typeface="Georgia"/>
                <a:cs typeface="Georgi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 7,437,222 [6]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74101" y="6108192"/>
            <a:ext cx="0" cy="146304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>
            <a:off x="10613897" y="2990087"/>
            <a:ext cx="0" cy="155449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9221723" y="3163824"/>
            <a:ext cx="2784347" cy="2926080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16667" y="3236976"/>
            <a:ext cx="2016251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Auto-boresight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9739" y="391363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Laser-to-sensor alignment drifts with temperature.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9739" y="473659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In ACHAL: 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boresight checked by co-observing the references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9739" y="5669280"/>
            <a:ext cx="254660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sng">
                <a:solidFill>
                  <a:srgbClr val="1B5E9E"/>
                </a:solidFill>
                <a:latin typeface="Georgia"/>
                <a:cs typeface="Georgi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WO2000016152 [7]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613897" y="6108192"/>
            <a:ext cx="0" cy="146304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cxnSp>
        <p:nvCxnSpPr>
          <p:cNvPr id="50" name="Connector 49"/>
          <p:cNvCxnSpPr/>
          <p:nvPr/>
        </p:nvCxnSpPr>
        <p:spPr>
          <a:xfrm>
            <a:off x="13553693" y="2990087"/>
            <a:ext cx="0" cy="155449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sp>
        <p:nvSpPr>
          <p:cNvPr id="51" name="Rectangle 50"/>
          <p:cNvSpPr/>
          <p:nvPr/>
        </p:nvSpPr>
        <p:spPr>
          <a:xfrm>
            <a:off x="12161519" y="3163824"/>
            <a:ext cx="2784347" cy="2926080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856463" y="3236976"/>
            <a:ext cx="2016251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Jitter prediction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89535" y="391363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Disturbance spectrum × system response </a:t>
            </a:r>
            <a:r>
              <a:rPr sz="14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predicts jitter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89535" y="473659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In ACHAL: 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run live to declare capability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89535" y="5669280"/>
            <a:ext cx="254660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sng">
                <a:solidFill>
                  <a:srgbClr val="1B5E9E"/>
                </a:solidFill>
                <a:latin typeface="Georgia"/>
                <a:cs typeface="Georgia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 jitter survey [8]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553693" y="6108192"/>
            <a:ext cx="0" cy="146304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cxnSp>
        <p:nvCxnSpPr>
          <p:cNvPr id="57" name="Connector 56"/>
          <p:cNvCxnSpPr/>
          <p:nvPr/>
        </p:nvCxnSpPr>
        <p:spPr>
          <a:xfrm>
            <a:off x="16493489" y="2990087"/>
            <a:ext cx="0" cy="155449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sp>
        <p:nvSpPr>
          <p:cNvPr id="58" name="Rectangle 57"/>
          <p:cNvSpPr/>
          <p:nvPr/>
        </p:nvSpPr>
        <p:spPr>
          <a:xfrm>
            <a:off x="15101315" y="3163824"/>
            <a:ext cx="2784347" cy="2926080"/>
          </a:xfrm>
          <a:prstGeom prst="rect">
            <a:avLst/>
          </a:prstGeom>
          <a:solidFill>
            <a:srgbClr val="EEF3FA"/>
          </a:solidFill>
          <a:ln w="12700">
            <a:solidFill>
              <a:srgbClr val="2232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5796259" y="3236976"/>
            <a:ext cx="2016251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600" b="1" i="0" u="none">
                <a:solidFill>
                  <a:srgbClr val="1F2937"/>
                </a:solidFill>
                <a:latin typeface="Segoe UI"/>
                <a:cs typeface="Segoe UI"/>
              </a:rPr>
              <a:t>Propeller signatures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29331" y="391363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 xml:space="preserve">Drones identified by blade periodicity at </a:t>
            </a:r>
            <a:r>
              <a:rPr sz="1450" b="0" i="0" u="none">
                <a:solidFill>
                  <a:srgbClr val="1F2937"/>
                </a:solidFill>
                <a:highlight>
                  <a:srgbClr val="FFF5B0"/>
                </a:highlight>
                <a:latin typeface="Georgia"/>
                <a:cs typeface="Georgia"/>
              </a:rPr>
              <a:t>0.7–1.5 km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29331" y="4736592"/>
            <a:ext cx="2546603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450" b="1" i="0" u="none">
                <a:solidFill>
                  <a:srgbClr val="C8541A"/>
                </a:solidFill>
                <a:latin typeface="Segoe UI"/>
                <a:cs typeface="Segoe UI"/>
              </a:rPr>
              <a:t>In ACHAL: </a:t>
            </a:r>
            <a:r>
              <a:rPr sz="1450" b="0" i="0" u="none">
                <a:solidFill>
                  <a:srgbClr val="1F2937"/>
                </a:solidFill>
                <a:latin typeface="Georgia"/>
                <a:cs typeface="Georgia"/>
              </a:rPr>
              <a:t>rotor photodiode for ID and kill check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29331" y="5669280"/>
            <a:ext cx="2546603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50" b="0" i="0" u="sng">
                <a:solidFill>
                  <a:srgbClr val="1B5E9E"/>
                </a:solidFill>
                <a:latin typeface="Georgia"/>
                <a:cs typeface="Georgia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EventRadar, 2026 [9]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6493489" y="6108192"/>
            <a:ext cx="0" cy="146304"/>
          </a:xfrm>
          <a:prstGeom prst="line">
            <a:avLst/>
          </a:prstGeom>
          <a:ln w="12700">
            <a:solidFill>
              <a:srgbClr val="22324D"/>
            </a:solidFill>
            <a:tailEnd type="triangle" w="med" len="med"/>
          </a:ln>
        </p:spPr>
      </p:cxnSp>
      <p:sp>
        <p:nvSpPr>
          <p:cNvPr id="64" name="Rounded Rectangle 63"/>
          <p:cNvSpPr/>
          <p:nvPr/>
        </p:nvSpPr>
        <p:spPr>
          <a:xfrm>
            <a:off x="402336" y="6272784"/>
            <a:ext cx="17483327" cy="676656"/>
          </a:xfrm>
          <a:prstGeom prst="roundRect">
            <a:avLst>
              <a:gd name="adj" fmla="val 30000"/>
            </a:avLst>
          </a:prstGeom>
          <a:solidFill>
            <a:srgbClr val="EAF1FA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0936" y="6272784"/>
            <a:ext cx="29260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700" b="1" i="0" u="none">
                <a:solidFill>
                  <a:srgbClr val="22324D"/>
                </a:solidFill>
                <a:latin typeface="Segoe UI"/>
                <a:cs typeface="Segoe UI"/>
              </a:rPr>
              <a:t>Our integration, ACHAL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46120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Sense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261104" y="6611112"/>
            <a:ext cx="13716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68" name="Rounded Rectangle 67"/>
          <p:cNvSpPr/>
          <p:nvPr/>
        </p:nvSpPr>
        <p:spPr>
          <a:xfrm>
            <a:off x="4407408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Torque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422392" y="6611112"/>
            <a:ext cx="13716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0" name="Rounded Rectangle 69"/>
          <p:cNvSpPr/>
          <p:nvPr/>
        </p:nvSpPr>
        <p:spPr>
          <a:xfrm>
            <a:off x="5568696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Revisit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83679" y="6611112"/>
            <a:ext cx="137161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2" name="Rounded Rectangle 71"/>
          <p:cNvSpPr/>
          <p:nvPr/>
        </p:nvSpPr>
        <p:spPr>
          <a:xfrm>
            <a:off x="6729983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θ(t)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744967" y="6611112"/>
            <a:ext cx="13716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4" name="Rounded Rectangle 73"/>
          <p:cNvSpPr/>
          <p:nvPr/>
        </p:nvSpPr>
        <p:spPr>
          <a:xfrm>
            <a:off x="7891271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Correct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906255" y="6611112"/>
            <a:ext cx="13716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6" name="Rounded Rectangle 75"/>
          <p:cNvSpPr/>
          <p:nvPr/>
        </p:nvSpPr>
        <p:spPr>
          <a:xfrm>
            <a:off x="9052559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Judge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067543" y="6611112"/>
            <a:ext cx="13716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78" name="Rounded Rectangle 77"/>
          <p:cNvSpPr/>
          <p:nvPr/>
        </p:nvSpPr>
        <p:spPr>
          <a:xfrm>
            <a:off x="10213848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Declare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1228832" y="6611112"/>
            <a:ext cx="137160" cy="0"/>
          </a:xfrm>
          <a:prstGeom prst="line">
            <a:avLst/>
          </a:prstGeom>
          <a:ln w="15875">
            <a:solidFill>
              <a:srgbClr val="22324D"/>
            </a:solidFill>
            <a:tailEnd type="triangle" w="med" len="med"/>
          </a:ln>
        </p:spPr>
      </p:cxnSp>
      <p:sp>
        <p:nvSpPr>
          <p:cNvPr id="80" name="Rounded Rectangle 79"/>
          <p:cNvSpPr/>
          <p:nvPr/>
        </p:nvSpPr>
        <p:spPr>
          <a:xfrm>
            <a:off x="11375136" y="640080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500" b="1" i="0" u="none">
                <a:solidFill>
                  <a:srgbClr val="1F2937"/>
                </a:solidFill>
                <a:latin typeface="Segoe UI"/>
                <a:cs typeface="Segoe UI"/>
              </a:rPr>
              <a:t>Verify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627864" y="6309360"/>
            <a:ext cx="5074919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sz="1450" b="0" i="1" u="none">
                <a:solidFill>
                  <a:srgbClr val="22324D"/>
                </a:solidFill>
                <a:latin typeface="Georgia"/>
                <a:cs typeface="Georgia"/>
              </a:rPr>
              <a:t xml:space="preserve">Each technique is published; </a:t>
            </a:r>
            <a:r>
              <a:rPr sz="1450" b="0" i="1" u="none">
                <a:solidFill>
                  <a:srgbClr val="22324D"/>
                </a:solidFill>
                <a:highlight>
                  <a:srgbClr val="FFF5B0"/>
                </a:highlight>
                <a:latin typeface="Georgia"/>
                <a:cs typeface="Georgia"/>
              </a:rPr>
              <a:t>the self-reference loop and its verification are ours</a:t>
            </a:r>
            <a:r>
              <a:rPr sz="1450" b="0" i="1" u="none">
                <a:solidFill>
                  <a:srgbClr val="22324D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077456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 i="0" u="none">
                <a:solidFill>
                  <a:srgbClr val="C8541A"/>
                </a:solidFill>
                <a:latin typeface="Segoe UI"/>
                <a:cs typeface="Segoe UI"/>
              </a:rPr>
              <a:t>References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2336" y="7589520"/>
            <a:ext cx="11850624" cy="24505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" y="7699248"/>
            <a:ext cx="5641847" cy="22859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1.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BEL / DRDO. D4 Anti-Drone System.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2.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Integrated Drone Detection &amp; Interdiction System (IDD&amp;IS).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3.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 Standard. DRDO Mk-II(A) laser weapon trial, Kurnool, Apr 2025.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4.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P. Wallace. Telescope Pointing (TPOINT).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5.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Line-of-sight stabilisation using a disturbance observer. Springer, 2020.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6.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 7,437,222. Gimbal disturbance calibration and compensation.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5079" y="7699248"/>
            <a:ext cx="5641847" cy="22859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7.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WO2000016152A1. Automatic alignment and stabilisation of electro-optical elements.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8.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NASA. A survey of the spacecraft line-of-sight jitter problem, 2020.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9.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EventRadar: long-range UAV discovery through event sensing. arXiv, 2026.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10.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Adaptive control of servo systems with LuGre friction. ASME JDSMC.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11.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JSS 55555. Environmental test methods for defence equipment.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1" i="0" u="none">
                <a:solidFill>
                  <a:srgbClr val="22324D"/>
                </a:solidFill>
                <a:latin typeface="Segoe UI"/>
                <a:cs typeface="Segoe UI"/>
              </a:rPr>
              <a:t>12. </a:t>
            </a:r>
            <a:r>
              <a:rPr sz="1300" b="0" i="0" u="sng">
                <a:solidFill>
                  <a:srgbClr val="1B5E9E"/>
                </a:solidFill>
                <a:latin typeface="Georgia"/>
                <a:cs typeface="Georgia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Asian Military Review. MoD RFI for high-altitude counter-drone systems, 2026.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957048" y="7077456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2200" b="1" i="0" u="none">
                <a:solidFill>
                  <a:srgbClr val="C8541A"/>
                </a:solidFill>
                <a:latin typeface="Segoe UI"/>
                <a:cs typeface="Segoe UI"/>
              </a:rPr>
              <a:t>Links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2454128" y="7589520"/>
            <a:ext cx="5431536" cy="2450591"/>
          </a:xfrm>
          <a:prstGeom prst="rect">
            <a:avLst/>
          </a:prstGeom>
          <a:noFill/>
          <a:ln w="12700">
            <a:solidFill>
              <a:srgbClr val="2B2B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LINK Documentation">
            <a:hlinkClick r:id="rId15"/>
          </p:cNvPr>
          <p:cNvSpPr/>
          <p:nvPr/>
        </p:nvSpPr>
        <p:spPr>
          <a:xfrm>
            <a:off x="12600432" y="7680960"/>
            <a:ext cx="5138927" cy="530352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88"/>
          <p:cNvSpPr/>
          <p:nvPr/>
        </p:nvSpPr>
        <p:spPr>
          <a:xfrm>
            <a:off x="12728448" y="7763256"/>
            <a:ext cx="365760" cy="365760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203" name="TextBox 89"/>
          <p:cNvSpPr txBox="1"/>
          <p:nvPr/>
        </p:nvSpPr>
        <p:spPr>
          <a:xfrm>
            <a:off x="13203936" y="7699248"/>
            <a:ext cx="4041647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700" b="1" i="0" u="sng">
                <a:solidFill>
                  <a:srgbClr val="22324D"/>
                </a:solidFill>
                <a:latin typeface="Segoe UI"/>
                <a:cs typeface="Segoe UI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</a:p>
          <a:p>
            <a:pPr algn="l">
              <a:lnSpc>
                <a:spcPct val="95000"/>
              </a:lnSpc>
            </a:pPr>
            <a:r>
              <a:rPr sz="1250" b="0" i="1" u="none">
                <a:solidFill>
                  <a:srgbClr val="4B5563"/>
                </a:solidFill>
                <a:latin typeface="Georgia"/>
                <a:cs typeface="Georgia"/>
              </a:rPr>
              <a:t>Complete ACHAL technical report</a:t>
            </a:r>
          </a:p>
        </p:txBody>
      </p:sp>
      <p:sp>
        <p:nvSpPr>
          <p:cNvPr id="204" name="TextBox 90"/>
          <p:cNvSpPr txBox="1"/>
          <p:nvPr/>
        </p:nvSpPr>
        <p:spPr>
          <a:xfrm>
            <a:off x="17227296" y="7680960"/>
            <a:ext cx="42062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 i="0" u="sng">
                <a:solidFill>
                  <a:srgbClr val="1B5E9E"/>
                </a:solidFill>
                <a:latin typeface="Segoe UI"/>
                <a:cs typeface="Segoe UI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</a:p>
        </p:txBody>
      </p:sp>
      <p:sp>
        <p:nvSpPr>
          <p:cNvPr id="205" name="LINK Budget Report">
            <a:hlinkClick r:id="rId16"/>
          </p:cNvPr>
          <p:cNvSpPr/>
          <p:nvPr/>
        </p:nvSpPr>
        <p:spPr>
          <a:xfrm>
            <a:off x="12600432" y="8247888"/>
            <a:ext cx="5138927" cy="530352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88"/>
          <p:cNvSpPr/>
          <p:nvPr/>
        </p:nvSpPr>
        <p:spPr>
          <a:xfrm>
            <a:off x="12728448" y="8330184"/>
            <a:ext cx="365760" cy="365760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07" name="TextBox 89"/>
          <p:cNvSpPr txBox="1"/>
          <p:nvPr/>
        </p:nvSpPr>
        <p:spPr>
          <a:xfrm>
            <a:off x="13203936" y="8266176"/>
            <a:ext cx="4041647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700" b="1" i="0" u="sng">
                <a:solidFill>
                  <a:srgbClr val="22324D"/>
                </a:solidFill>
                <a:latin typeface="Segoe UI"/>
                <a:cs typeface="Segoe UI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Budget Report</a:t>
            </a:r>
          </a:p>
          <a:p>
            <a:pPr algn="l">
              <a:lnSpc>
                <a:spcPct val="95000"/>
              </a:lnSpc>
            </a:pPr>
            <a:r>
              <a:rPr sz="1250" b="0" i="1" u="none">
                <a:solidFill>
                  <a:srgbClr val="4B5563"/>
                </a:solidFill>
                <a:latin typeface="Georgia"/>
                <a:cs typeface="Georgia"/>
              </a:rPr>
              <a:t>Detailed BOM + cost analysis + charts</a:t>
            </a:r>
          </a:p>
        </p:txBody>
      </p:sp>
      <p:sp>
        <p:nvSpPr>
          <p:cNvPr id="208" name="TextBox 90"/>
          <p:cNvSpPr txBox="1"/>
          <p:nvPr/>
        </p:nvSpPr>
        <p:spPr>
          <a:xfrm>
            <a:off x="17227296" y="8247888"/>
            <a:ext cx="42062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 i="0" u="sng">
                <a:solidFill>
                  <a:srgbClr val="1B5E9E"/>
                </a:solidFill>
                <a:latin typeface="Segoe UI"/>
                <a:cs typeface="Segoe UI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</a:p>
        </p:txBody>
      </p:sp>
      <p:sp>
        <p:nvSpPr>
          <p:cNvPr id="209" name="LINK Prototype Simulation">
            <a:hlinkClick r:id="rId17"/>
          </p:cNvPr>
          <p:cNvSpPr/>
          <p:nvPr/>
        </p:nvSpPr>
        <p:spPr>
          <a:xfrm>
            <a:off x="12600432" y="8814816"/>
            <a:ext cx="5138927" cy="530352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88"/>
          <p:cNvSpPr/>
          <p:nvPr/>
        </p:nvSpPr>
        <p:spPr>
          <a:xfrm>
            <a:off x="12728448" y="8897112"/>
            <a:ext cx="365760" cy="365760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11" name="TextBox 89"/>
          <p:cNvSpPr txBox="1"/>
          <p:nvPr/>
        </p:nvSpPr>
        <p:spPr>
          <a:xfrm>
            <a:off x="13203936" y="8833104"/>
            <a:ext cx="4041647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700" b="1" i="0" u="sng">
                <a:solidFill>
                  <a:srgbClr val="22324D"/>
                </a:solidFill>
                <a:latin typeface="Segoe UI"/>
                <a:cs typeface="Segoe UI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Prototype Simulation</a:t>
            </a:r>
          </a:p>
          <a:p>
            <a:pPr algn="l">
              <a:lnSpc>
                <a:spcPct val="95000"/>
              </a:lnSpc>
            </a:pPr>
            <a:r>
              <a:rPr sz="1250" b="0" i="1" u="none">
                <a:solidFill>
                  <a:srgbClr val="4B5563"/>
                </a:solidFill>
                <a:latin typeface="Georgia"/>
                <a:cs typeface="Georgia"/>
              </a:rPr>
              <a:t>Interactive ACHAL web demo</a:t>
            </a:r>
          </a:p>
        </p:txBody>
      </p:sp>
      <p:sp>
        <p:nvSpPr>
          <p:cNvPr id="212" name="TextBox 90"/>
          <p:cNvSpPr txBox="1"/>
          <p:nvPr/>
        </p:nvSpPr>
        <p:spPr>
          <a:xfrm>
            <a:off x="17227296" y="8814816"/>
            <a:ext cx="42062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 i="0" u="sng">
                <a:solidFill>
                  <a:srgbClr val="1B5E9E"/>
                </a:solidFill>
                <a:latin typeface="Segoe UI"/>
                <a:cs typeface="Segoe UI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</a:p>
        </p:txBody>
      </p:sp>
      <p:sp>
        <p:nvSpPr>
          <p:cNvPr id="213" name="LINK Simulation Demo">
            <a:hlinkClick r:id="rId99"/>
          </p:cNvPr>
          <p:cNvSpPr/>
          <p:nvPr/>
        </p:nvSpPr>
        <p:spPr>
          <a:xfrm>
            <a:off x="12600432" y="9381744"/>
            <a:ext cx="5138927" cy="530352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15875">
            <a:solidFill>
              <a:srgbClr val="22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88"/>
          <p:cNvSpPr/>
          <p:nvPr/>
        </p:nvSpPr>
        <p:spPr>
          <a:xfrm>
            <a:off x="12728448" y="9464040"/>
            <a:ext cx="365760" cy="365760"/>
          </a:xfrm>
          <a:prstGeom prst="ellipse">
            <a:avLst/>
          </a:prstGeom>
          <a:solidFill>
            <a:srgbClr val="2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15" name="TextBox 89"/>
          <p:cNvSpPr txBox="1"/>
          <p:nvPr/>
        </p:nvSpPr>
        <p:spPr>
          <a:xfrm>
            <a:off x="13203936" y="9400032"/>
            <a:ext cx="4041647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sz="1700" b="1" i="0" u="sng">
                <a:solidFill>
                  <a:srgbClr val="22324D"/>
                </a:solidFill>
                <a:latin typeface="Segoe UI"/>
                <a:cs typeface="Segoe UI"/>
                <a:hlinkClick r:id="rId9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 Demo</a:t>
            </a:r>
          </a:p>
          <a:p>
            <a:pPr algn="l">
              <a:lnSpc>
                <a:spcPct val="95000"/>
              </a:lnSpc>
            </a:pPr>
            <a:r>
              <a:rPr sz="1250" b="0" i="1" u="none">
                <a:solidFill>
                  <a:srgbClr val="4B5563"/>
                </a:solidFill>
                <a:latin typeface="Georgia"/>
                <a:cs typeface="Georgia"/>
              </a:rPr>
              <a:t>Recorded walkthrough video</a:t>
            </a:r>
          </a:p>
        </p:txBody>
      </p:sp>
      <p:sp>
        <p:nvSpPr>
          <p:cNvPr id="216" name="TextBox 90"/>
          <p:cNvSpPr txBox="1"/>
          <p:nvPr/>
        </p:nvSpPr>
        <p:spPr>
          <a:xfrm>
            <a:off x="17227296" y="9381744"/>
            <a:ext cx="42062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000" b="1" i="0" u="sng">
                <a:solidFill>
                  <a:srgbClr val="1B5E9E"/>
                </a:solidFill>
                <a:latin typeface="Segoe UI"/>
                <a:cs typeface="Segoe UI"/>
                <a:hlinkClick r:id="rId9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</a:p>
        </p:txBody>
      </p:sp>
      <p:pic>
        <p:nvPicPr>
          <p:cNvPr id="3" name="ICON effector">
            <a:extLst>
              <a:ext uri="{FF2B5EF4-FFF2-40B4-BE49-F238E27FC236}">
                <a16:creationId xmlns:a16="http://schemas.microsoft.com/office/drawing/2014/main" id="{12AD4E2E-F14E-DB92-96D7-E73F4A271FA2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6928" y="2423160"/>
            <a:ext cx="457200" cy="457200"/>
          </a:xfrm>
          <a:prstGeom prst="rect">
            <a:avLst/>
          </a:prstGeom>
        </p:spPr>
      </p:pic>
      <p:pic>
        <p:nvPicPr>
          <p:cNvPr id="5" name="ICON telescope">
            <a:extLst>
              <a:ext uri="{FF2B5EF4-FFF2-40B4-BE49-F238E27FC236}">
                <a16:creationId xmlns:a16="http://schemas.microsoft.com/office/drawing/2014/main" id="{579190E4-D9E0-F91A-0388-1FD234340DE0}"/>
              </a:ext>
            </a:extLst>
          </p:cNvPr>
          <p:cNvPicPr>
            <a:picLocks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2064" y="3291840"/>
            <a:ext cx="502920" cy="502920"/>
          </a:xfrm>
          <a:prstGeom prst="rect">
            <a:avLst/>
          </a:prstGeom>
        </p:spPr>
      </p:pic>
      <p:pic>
        <p:nvPicPr>
          <p:cNvPr id="7" name="ICON control">
            <a:extLst>
              <a:ext uri="{FF2B5EF4-FFF2-40B4-BE49-F238E27FC236}">
                <a16:creationId xmlns:a16="http://schemas.microsoft.com/office/drawing/2014/main" id="{C23C27C1-C841-EB3C-F288-A7EA1372230B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51860" y="3291840"/>
            <a:ext cx="502920" cy="502920"/>
          </a:xfrm>
          <a:prstGeom prst="rect">
            <a:avLst/>
          </a:prstGeom>
        </p:spPr>
      </p:pic>
      <p:pic>
        <p:nvPicPr>
          <p:cNvPr id="9" name="ICON patent">
            <a:extLst>
              <a:ext uri="{FF2B5EF4-FFF2-40B4-BE49-F238E27FC236}">
                <a16:creationId xmlns:a16="http://schemas.microsoft.com/office/drawing/2014/main" id="{9FA57FF2-FCE5-B8A9-AEF7-AB22867DBF5D}"/>
              </a:ext>
            </a:extLst>
          </p:cNvPr>
          <p:cNvPicPr>
            <a:picLocks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391656" y="3291840"/>
            <a:ext cx="502920" cy="502920"/>
          </a:xfrm>
          <a:prstGeom prst="rect">
            <a:avLst/>
          </a:prstGeom>
        </p:spPr>
      </p:pic>
      <p:pic>
        <p:nvPicPr>
          <p:cNvPr id="11" name="ICON effector">
            <a:extLst>
              <a:ext uri="{FF2B5EF4-FFF2-40B4-BE49-F238E27FC236}">
                <a16:creationId xmlns:a16="http://schemas.microsoft.com/office/drawing/2014/main" id="{6BDE4525-B5B1-1273-371B-BC28827D05BB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31452" y="3291840"/>
            <a:ext cx="502920" cy="502920"/>
          </a:xfrm>
          <a:prstGeom prst="rect">
            <a:avLst/>
          </a:prstGeom>
        </p:spPr>
      </p:pic>
      <p:pic>
        <p:nvPicPr>
          <p:cNvPr id="100" name="ICON spectrum">
            <a:extLst>
              <a:ext uri="{FF2B5EF4-FFF2-40B4-BE49-F238E27FC236}">
                <a16:creationId xmlns:a16="http://schemas.microsoft.com/office/drawing/2014/main" id="{6FEC427B-3D98-77EC-1FA0-851E4455FCF7}"/>
              </a:ext>
            </a:extLst>
          </p:cNvPr>
          <p:cNvPicPr>
            <a:picLocks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271248" y="3291840"/>
            <a:ext cx="502920" cy="502920"/>
          </a:xfrm>
          <a:prstGeom prst="rect">
            <a:avLst/>
          </a:prstGeom>
        </p:spPr>
      </p:pic>
      <p:pic>
        <p:nvPicPr>
          <p:cNvPr id="102" name="ICON rotor">
            <a:extLst>
              <a:ext uri="{FF2B5EF4-FFF2-40B4-BE49-F238E27FC236}">
                <a16:creationId xmlns:a16="http://schemas.microsoft.com/office/drawing/2014/main" id="{03C77241-1DAF-9AD9-CD87-25A1646814C9}"/>
              </a:ext>
            </a:extLst>
          </p:cNvPr>
          <p:cNvPicPr>
            <a:picLocks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211044" y="3291840"/>
            <a:ext cx="502920" cy="502920"/>
          </a:xfrm>
          <a:prstGeom prst="rect">
            <a:avLst/>
          </a:prstGeom>
        </p:spPr>
      </p:pic>
      <p:pic>
        <p:nvPicPr>
          <p:cNvPr id="104" name="ICON book">
            <a:extLst>
              <a:ext uri="{FF2B5EF4-FFF2-40B4-BE49-F238E27FC236}">
                <a16:creationId xmlns:a16="http://schemas.microsoft.com/office/drawing/2014/main" id="{B067A541-C637-D690-607D-83419BD74AF2}"/>
              </a:ext>
            </a:extLst>
          </p:cNvPr>
          <p:cNvPicPr>
            <a:picLocks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02336" y="7132320"/>
            <a:ext cx="402336" cy="402336"/>
          </a:xfrm>
          <a:prstGeom prst="rect">
            <a:avLst/>
          </a:prstGeom>
        </p:spPr>
      </p:pic>
      <p:pic>
        <p:nvPicPr>
          <p:cNvPr id="106" name="ICON chain">
            <a:extLst>
              <a:ext uri="{FF2B5EF4-FFF2-40B4-BE49-F238E27FC236}">
                <a16:creationId xmlns:a16="http://schemas.microsoft.com/office/drawing/2014/main" id="{EF83FC42-97CA-9B15-DB84-3A26D9EB9C2F}"/>
              </a:ext>
            </a:extLst>
          </p:cNvPr>
          <p:cNvPicPr>
            <a:picLocks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454128" y="7132320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1726</Words>
  <Application>Microsoft Office PowerPoint</Application>
  <PresentationFormat>Custom</PresentationFormat>
  <Paragraphs>372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Garamond Bold</vt:lpstr>
      <vt:lpstr>Arial Bold</vt:lpstr>
      <vt:lpstr>Times New Roman</vt:lpstr>
      <vt:lpstr>Segoe UI</vt:lpstr>
      <vt:lpstr>Calibri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SMART INDIA HACKATHON 2026</dc:title>
  <cp:lastModifiedBy>Jyothir Adithya V B-[CH.SC.U4CYS24022]</cp:lastModifiedBy>
  <cp:revision>2</cp:revision>
  <dcterms:created xsi:type="dcterms:W3CDTF">2006-08-16T00:00:00Z</dcterms:created>
  <dcterms:modified xsi:type="dcterms:W3CDTF">2026-10-05T15:25:09Z</dcterms:modified>
  <dc:identifier>DAHXGq998dc</dc:identifier>
</cp:coreProperties>
</file>