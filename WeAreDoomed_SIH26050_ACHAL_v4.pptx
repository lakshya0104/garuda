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astro.caltech.edu/~srk/TP/Literature/Wallace_Telescope_Pointing.pdf" TargetMode="External"/><Relationship Id="rId5" Type="http://schemas.openxmlformats.org/officeDocument/2006/relationships/hyperlink" Target="https://link.springer.com/chapter/10.1007/978-3-030-34515-0_81" TargetMode="External"/><Relationship Id="rId7" Type="http://schemas.openxmlformats.org/officeDocument/2006/relationships/hyperlink" Target="https://image-ppubs.uspto.gov/dirsearch-public/print/downloadPdf/7437222" TargetMode="External"/><Relationship Id="rId9" Type="http://schemas.openxmlformats.org/officeDocument/2006/relationships/hyperlink" Target="https://patents.google.com/patent/WO2000016152A1/en" TargetMode="External"/><Relationship Id="rId11" Type="http://schemas.openxmlformats.org/officeDocument/2006/relationships/hyperlink" Target="https://ntrs.nasa.gov/api/citations/20200002690/downloads/20200002690.pdf" TargetMode="External"/><Relationship Id="rId13" Type="http://schemas.openxmlformats.org/officeDocument/2006/relationships/hyperlink" Target="https://arxiv.org/html/2606.11285" TargetMode="External"/><Relationship Id="rId15" Type="http://schemas.openxmlformats.org/officeDocument/2006/relationships/hyperlink" Target="https://achal-simulation.vercel.app" TargetMode="External"/><Relationship Id="rId16" Type="http://schemas.openxmlformats.org/officeDocument/2006/relationships/hyperlink" Target="https://achal-simulation.vercel.app" TargetMode="External"/><Relationship Id="rId18" Type="http://schemas.openxmlformats.org/officeDocument/2006/relationships/hyperlink" Target="https://drive.google.com/file/d/1_EZqExghhIKiOwbJVxGpDaSDH9n1E9CI/view?usp=drive_link" TargetMode="External"/><Relationship Id="rId19" Type="http://schemas.openxmlformats.org/officeDocument/2006/relationships/hyperlink" Target="https://drive.google.com/file/d/1_EZqExghhIKiOwbJVxGpDaSDH9n1E9CI/view?usp=drive_link" TargetMode="External"/><Relationship Id="rId21" Type="http://schemas.openxmlformats.org/officeDocument/2006/relationships/hyperlink" Target="https://drive.google.com/file/d/1jJxxI2EIeYw9uvgJgDPeDLDhHupuYVNg/view?usp=drive_link" TargetMode="External"/><Relationship Id="rId22" Type="http://schemas.openxmlformats.org/officeDocument/2006/relationships/hyperlink" Target="https://drive.google.com/file/d/1jJxxI2EIeYw9uvgJgDPeDLDhHupuYVNg/view?usp=drive_link" TargetMode="External"/><Relationship Id="rId23" Type="http://schemas.openxmlformats.org/officeDocument/2006/relationships/hyperlink" Target="https://bel-india.in/product/anti-drone-system/" TargetMode="External"/><Relationship Id="rId24" Type="http://schemas.openxmlformats.org/officeDocument/2006/relationships/hyperlink" Target="https://en.wikipedia.org/wiki/Integrated_Drone_Detection_&amp;_Interdiction_System" TargetMode="External"/><Relationship Id="rId25" Type="http://schemas.openxmlformats.org/officeDocument/2006/relationships/hyperlink" Target="https://www.business-standard.com/external-affairs-defence-security/news/drdo-mk-iia-high-energy-laser-weapon-trial-kurnool-features-star-wars-125041400160_1.html" TargetMode="External"/><Relationship Id="rId26" Type="http://schemas.openxmlformats.org/officeDocument/2006/relationships/hyperlink" Target="https://sites.astro.caltech.edu/~srk/TP/Literature/Wallace_Telescope_Pointing.pdf" TargetMode="External"/><Relationship Id="rId27" Type="http://schemas.openxmlformats.org/officeDocument/2006/relationships/hyperlink" Target="https://link.springer.com/chapter/10.1007/978-3-030-34515-0_81" TargetMode="External"/><Relationship Id="rId28" Type="http://schemas.openxmlformats.org/officeDocument/2006/relationships/hyperlink" Target="https://image-ppubs.uspto.gov/dirsearch-public/print/downloadPdf/7437222" TargetMode="External"/><Relationship Id="rId29" Type="http://schemas.openxmlformats.org/officeDocument/2006/relationships/hyperlink" Target="https://patents.google.com/patent/WO2000016152A1/en" TargetMode="External"/><Relationship Id="rId30" Type="http://schemas.openxmlformats.org/officeDocument/2006/relationships/hyperlink" Target="https://ntrs.nasa.gov/api/citations/20200002690/downloads/20200002690.pdf" TargetMode="External"/><Relationship Id="rId31" Type="http://schemas.openxmlformats.org/officeDocument/2006/relationships/hyperlink" Target="https://arxiv.org/html/2606.11285" TargetMode="External"/><Relationship Id="rId32" Type="http://schemas.openxmlformats.org/officeDocument/2006/relationships/hyperlink" Target="https://asmedigitalcollection.asme.org/dynamicsystems/article-abstract/134/1/011021/467177" TargetMode="External"/><Relationship Id="rId33" Type="http://schemas.openxmlformats.org/officeDocument/2006/relationships/hyperlink" Target="https://www.scribd.com/document/780240233/JSS-55555-2020-Fourth-Revision-LSSC" TargetMode="External"/><Relationship Id="rId34" Type="http://schemas.openxmlformats.org/officeDocument/2006/relationships/hyperlink" Target="https://www.asianmilitaryreview.com/2026/02/indian-army-eyes-drone-interception-systems-and-armed-uavs-foc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image" Target="../media/image-6-6.png"/><Relationship Id="rId12" Type="http://schemas.openxmlformats.org/officeDocument/2006/relationships/image" Target="../media/image-6-7.png"/><Relationship Id="rId14" Type="http://schemas.openxmlformats.org/officeDocument/2006/relationships/image" Target="../media/image-6-8.png"/><Relationship Id="rId17" Type="http://schemas.openxmlformats.org/officeDocument/2006/relationships/image" Target="../media/image-6-9.png"/><Relationship Id="rId20" Type="http://schemas.openxmlformats.org/officeDocument/2006/relationships/image" Target="../media/image-6-10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image1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8412480" y="1417320"/>
            <a:ext cx="7680960" cy="8549640"/>
          </a:xfrm>
          <a:prstGeom prst="rect">
            <a:avLst/>
          </a:prstGeom>
        </p:spPr>
      </p:pic>
      <p:pic>
        <p:nvPicPr>
          <p:cNvPr id="3" name="Image 1" descr="img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926080"/>
            <a:ext cx="4572000" cy="5029200"/>
          </a:xfrm>
          <a:prstGeom prst="rect">
            <a:avLst/>
          </a:prstGeom>
        </p:spPr>
      </p:pic>
      <p:pic>
        <p:nvPicPr>
          <p:cNvPr id="4" name="Image 2" descr="img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31520" y="548640"/>
            <a:ext cx="1417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6200" dirty="0"/>
          </a:p>
        </p:txBody>
      </p:sp>
      <p:sp>
        <p:nvSpPr>
          <p:cNvPr id="6" name="Text 1"/>
          <p:cNvSpPr txBox="1"/>
          <p:nvPr/>
        </p:nvSpPr>
        <p:spPr>
          <a:xfrm>
            <a:off x="914400" y="2377440"/>
            <a:ext cx="786384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SIH26050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 Performance Optimization and Robust Design of Anti-Drone System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 / Security &amp; Surveillance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165054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800" dirty="0"/>
          </a:p>
        </p:txBody>
      </p:sp>
      <p:sp>
        <p:nvSpPr>
          <p:cNvPr id="7" name="Shape 2"/>
          <p:cNvSpPr/>
          <p:nvPr/>
        </p:nvSpPr>
        <p:spPr>
          <a:xfrm>
            <a:off x="914400" y="8549640"/>
            <a:ext cx="7680960" cy="1097280"/>
          </a:xfrm>
          <a:prstGeom prst="roundRect">
            <a:avLst>
              <a:gd name="adj" fmla="val 10000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188720" y="8549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ACHAL</a:t>
            </a:r>
            <a:pPr indent="0" marL="0">
              <a:buNone/>
            </a:pPr>
            <a:r>
              <a:rPr lang="en-US" sz="1700" dirty="0">
                <a:solidFill>
                  <a:srgbClr val="D4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self-calibrating pointing head for high-altitude anti-drone systems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926080" cy="11430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F23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165054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74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5000" dirty="0"/>
          </a:p>
        </p:txBody>
      </p:sp>
      <p:pic>
        <p:nvPicPr>
          <p:cNvPr id="5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783080"/>
            <a:ext cx="17373600" cy="1143000"/>
          </a:xfrm>
          <a:prstGeom prst="roundRect">
            <a:avLst>
              <a:gd name="adj" fmla="val 9600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1682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4,500 m an anti-drone tracker doesn't fail loudly. It quietly misses.</a:t>
            </a:r>
            <a:endParaRPr lang="en-US" sz="3000" dirty="0"/>
          </a:p>
          <a:p>
            <a:pPr indent="0" marL="0">
              <a:buNone/>
            </a:pPr>
            <a:r>
              <a:rPr lang="en-US" sz="2200" dirty="0">
                <a:solidFill>
                  <a:srgbClr val="FF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 measures what the cold did to the machine and re-aims itself.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97764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img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412577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stiffens the machine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bearings &amp; batteries derate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521208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5440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img/image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5588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&amp; wind bend the aim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58704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gradients + gusts at µrad scale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667512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69037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img/image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705185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6858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frozen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645920" y="7333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tables can't see what changed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57200" y="813816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BE3E0"/>
          </a:solidFill>
          <a:ln w="12700">
            <a:solidFill>
              <a:srgbClr val="FBE3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8366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img/image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8514893"/>
            <a:ext cx="526694" cy="52669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8321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silent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1645920" y="8796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tracking while accuracy drops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532120" y="3108960"/>
            <a:ext cx="7680960" cy="4106522"/>
          </a:xfrm>
          <a:prstGeom prst="roundRect">
            <a:avLst>
              <a:gd name="adj" fmla="val 267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30" name="Image 5" descr="img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200400"/>
            <a:ext cx="7498080" cy="39236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73368" y="492680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 head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022946" y="3985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(tracked)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1472062" y="371047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1097158" y="5044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11622024" y="602542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472830" y="65747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 = torque sensor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623560" y="726120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references the cold cannot move → the head re-fits its own aim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34416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 IN 3 IDEAS</a:t>
            </a:r>
            <a:endParaRPr lang="en-US" sz="2200" dirty="0"/>
          </a:p>
        </p:txBody>
      </p:sp>
      <p:sp>
        <p:nvSpPr>
          <p:cNvPr id="39" name="Shape 31"/>
          <p:cNvSpPr/>
          <p:nvPr/>
        </p:nvSpPr>
        <p:spPr>
          <a:xfrm>
            <a:off x="13441680" y="374904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3624560" y="402336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6" descr="img/image1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0922" y="4179722"/>
            <a:ext cx="555955" cy="55595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6304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fingerprint</a:t>
            </a:r>
            <a:endParaRPr lang="en-US" sz="1900" dirty="0"/>
          </a:p>
        </p:txBody>
      </p:sp>
      <p:sp>
        <p:nvSpPr>
          <p:cNvPr id="43" name="Text 34"/>
          <p:cNvSpPr txBox="1"/>
          <p:nvPr/>
        </p:nvSpPr>
        <p:spPr>
          <a:xfrm>
            <a:off x="1463040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current split into friction, cable, imbalance, wind</a:t>
            </a:r>
            <a:endParaRPr lang="en-US" sz="1450" dirty="0"/>
          </a:p>
        </p:txBody>
      </p:sp>
      <p:sp>
        <p:nvSpPr>
          <p:cNvPr id="44" name="Shape 35"/>
          <p:cNvSpPr/>
          <p:nvPr/>
        </p:nvSpPr>
        <p:spPr>
          <a:xfrm>
            <a:off x="13441680" y="553212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3624560" y="58064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7" descr="img/image1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80922" y="5962802"/>
            <a:ext cx="555955" cy="55595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463040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revisits</a:t>
            </a:r>
            <a:endParaRPr lang="en-US" sz="1900" dirty="0"/>
          </a:p>
        </p:txBody>
      </p:sp>
      <p:sp>
        <p:nvSpPr>
          <p:cNvPr id="48" name="Text 38"/>
          <p:cNvSpPr txBox="1"/>
          <p:nvPr/>
        </p:nvSpPr>
        <p:spPr>
          <a:xfrm>
            <a:off x="14630400" y="6172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Markers, ridges &amp; stars re-fit tilt, flexure, gyro bias, boresight</a:t>
            </a:r>
            <a:endParaRPr lang="en-US" sz="1450" dirty="0"/>
          </a:p>
        </p:txBody>
      </p:sp>
      <p:sp>
        <p:nvSpPr>
          <p:cNvPr id="49" name="Shape 39"/>
          <p:cNvSpPr/>
          <p:nvPr/>
        </p:nvSpPr>
        <p:spPr>
          <a:xfrm>
            <a:off x="13441680" y="731520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13624560" y="75895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8" descr="img/image2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80922" y="7745882"/>
            <a:ext cx="555955" cy="55595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4630400" y="7498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gate</a:t>
            </a:r>
            <a:endParaRPr lang="en-US" sz="1900" dirty="0"/>
          </a:p>
        </p:txBody>
      </p:sp>
      <p:sp>
        <p:nvSpPr>
          <p:cNvPr id="53" name="Text 42"/>
          <p:cNvSpPr txBox="1"/>
          <p:nvPr/>
        </p:nvSpPr>
        <p:spPr>
          <a:xfrm>
            <a:off x="14630400" y="7955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live accuracy; engages only when GREEN</a:t>
            </a:r>
            <a:endParaRPr lang="en-US" sz="1450" dirty="0"/>
          </a:p>
        </p:txBody>
      </p:sp>
      <p:sp>
        <p:nvSpPr>
          <p:cNvPr id="54" name="Shape 43"/>
          <p:cNvSpPr/>
          <p:nvPr/>
        </p:nvSpPr>
        <p:spPr>
          <a:xfrm>
            <a:off x="13487400" y="909828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13487400" y="9098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56" name="Shape 45"/>
          <p:cNvSpPr/>
          <p:nvPr/>
        </p:nvSpPr>
        <p:spPr>
          <a:xfrm>
            <a:off x="14950440" y="909828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D99A0B"/>
          </a:solidFill>
          <a:ln w="12700">
            <a:solidFill>
              <a:srgbClr val="D99A0B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14950440" y="9098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400" dirty="0"/>
          </a:p>
        </p:txBody>
      </p:sp>
      <p:sp>
        <p:nvSpPr>
          <p:cNvPr id="58" name="Shape 47"/>
          <p:cNvSpPr/>
          <p:nvPr/>
        </p:nvSpPr>
        <p:spPr>
          <a:xfrm>
            <a:off x="16413480" y="909828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16413480" y="9098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60" name="Text 49"/>
          <p:cNvSpPr txBox="1"/>
          <p:nvPr/>
        </p:nvSpPr>
        <p:spPr>
          <a:xfrm>
            <a:off x="5532120" y="7772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 IN THE KILL CHAIN</a:t>
            </a:r>
            <a:endParaRPr lang="en-US" sz="1500" dirty="0"/>
          </a:p>
        </p:txBody>
      </p:sp>
      <p:sp>
        <p:nvSpPr>
          <p:cNvPr id="61" name="Shape 50"/>
          <p:cNvSpPr/>
          <p:nvPr/>
        </p:nvSpPr>
        <p:spPr>
          <a:xfrm>
            <a:off x="5532120" y="8229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D4E4F3"/>
          </a:solidFill>
          <a:ln w="12700">
            <a:solidFill>
              <a:srgbClr val="D4E4F3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5532120" y="8321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63" name="Text 52"/>
          <p:cNvSpPr txBox="1"/>
          <p:nvPr/>
        </p:nvSpPr>
        <p:spPr>
          <a:xfrm>
            <a:off x="5532120" y="8732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camera</a:t>
            </a:r>
            <a:endParaRPr lang="en-US" sz="1250" dirty="0"/>
          </a:p>
        </p:txBody>
      </p:sp>
      <p:sp>
        <p:nvSpPr>
          <p:cNvPr id="64" name="Shape 53"/>
          <p:cNvSpPr/>
          <p:nvPr/>
        </p:nvSpPr>
        <p:spPr>
          <a:xfrm>
            <a:off x="7251192" y="8750808"/>
            <a:ext cx="2286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65" name="Shape 54"/>
          <p:cNvSpPr/>
          <p:nvPr/>
        </p:nvSpPr>
        <p:spPr>
          <a:xfrm>
            <a:off x="7498080" y="8229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D4E4F3"/>
          </a:solidFill>
          <a:ln w="12700">
            <a:solidFill>
              <a:srgbClr val="D4E4F3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7498080" y="8321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700" dirty="0"/>
          </a:p>
        </p:txBody>
      </p:sp>
      <p:sp>
        <p:nvSpPr>
          <p:cNvPr id="67" name="Text 56"/>
          <p:cNvSpPr txBox="1"/>
          <p:nvPr/>
        </p:nvSpPr>
        <p:spPr>
          <a:xfrm>
            <a:off x="7498080" y="8732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2-axis gimbal</a:t>
            </a:r>
            <a:endParaRPr lang="en-US" sz="1250" dirty="0"/>
          </a:p>
        </p:txBody>
      </p:sp>
      <p:sp>
        <p:nvSpPr>
          <p:cNvPr id="68" name="Shape 57"/>
          <p:cNvSpPr/>
          <p:nvPr/>
        </p:nvSpPr>
        <p:spPr>
          <a:xfrm>
            <a:off x="9217152" y="8750808"/>
            <a:ext cx="2286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69" name="Shape 58"/>
          <p:cNvSpPr/>
          <p:nvPr/>
        </p:nvSpPr>
        <p:spPr>
          <a:xfrm>
            <a:off x="9464040" y="8229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D4E4F3"/>
          </a:solidFill>
          <a:ln w="12700">
            <a:solidFill>
              <a:srgbClr val="D4E4F3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9464040" y="8321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700" dirty="0"/>
          </a:p>
        </p:txBody>
      </p:sp>
      <p:sp>
        <p:nvSpPr>
          <p:cNvPr id="71" name="Text 60"/>
          <p:cNvSpPr txBox="1"/>
          <p:nvPr/>
        </p:nvSpPr>
        <p:spPr>
          <a:xfrm>
            <a:off x="9464040" y="8732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signal + AI</a:t>
            </a:r>
            <a:endParaRPr lang="en-US" sz="1250" dirty="0"/>
          </a:p>
        </p:txBody>
      </p:sp>
      <p:sp>
        <p:nvSpPr>
          <p:cNvPr id="72" name="Shape 61"/>
          <p:cNvSpPr/>
          <p:nvPr/>
        </p:nvSpPr>
        <p:spPr>
          <a:xfrm>
            <a:off x="11183112" y="8750808"/>
            <a:ext cx="2286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73" name="Shape 62"/>
          <p:cNvSpPr/>
          <p:nvPr/>
        </p:nvSpPr>
        <p:spPr>
          <a:xfrm>
            <a:off x="11430000" y="8229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11430000" y="8321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</a:t>
            </a:r>
            <a:endParaRPr lang="en-US" sz="1700" dirty="0"/>
          </a:p>
        </p:txBody>
      </p:sp>
      <p:sp>
        <p:nvSpPr>
          <p:cNvPr id="75" name="Text 64"/>
          <p:cNvSpPr txBox="1"/>
          <p:nvPr/>
        </p:nvSpPr>
        <p:spPr>
          <a:xfrm>
            <a:off x="11430000" y="8732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 handoff</a:t>
            </a:r>
            <a:endParaRPr lang="en-US" sz="1250" dirty="0"/>
          </a:p>
        </p:txBody>
      </p:sp>
      <p:sp>
        <p:nvSpPr>
          <p:cNvPr id="76" name="Text 65"/>
          <p:cNvSpPr txBox="1"/>
          <p:nvPr/>
        </p:nvSpPr>
        <p:spPr>
          <a:xfrm>
            <a:off x="5532120" y="9354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 keeps every stage accurate in the cold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926080" cy="11430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F23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165054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74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5000" dirty="0"/>
          </a:p>
        </p:txBody>
      </p:sp>
      <p:pic>
        <p:nvPicPr>
          <p:cNvPr id="5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E06A12"/>
          </a:solidFill>
          <a:ln w="12700">
            <a:solidFill>
              <a:srgbClr val="E06A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901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THE EFFECTS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82549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img/image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963753"/>
            <a:ext cx="491581" cy="49158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825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&amp; motion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227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· encoders · IMU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57200" y="388620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401421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img/image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4152473"/>
            <a:ext cx="491581" cy="49158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14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camera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416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· ridges · stars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457200" y="507492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520293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img/image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5341193"/>
            <a:ext cx="491581" cy="49158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029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sensing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605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camera · rotor photodiode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457200" y="626364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639165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img/image3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17" y="6529913"/>
            <a:ext cx="491581" cy="49158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6391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6793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pressure · humidity (priors)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5486400" y="4937760"/>
            <a:ext cx="64008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6263640" y="182880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63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7040880" y="1901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SELF-MODEL</a:t>
            </a:r>
            <a:endParaRPr lang="en-US" sz="2200" dirty="0"/>
          </a:p>
        </p:txBody>
      </p:sp>
      <p:sp>
        <p:nvSpPr>
          <p:cNvPr id="33" name="Shape 26"/>
          <p:cNvSpPr/>
          <p:nvPr/>
        </p:nvSpPr>
        <p:spPr>
          <a:xfrm>
            <a:off x="6263640" y="2697480"/>
            <a:ext cx="5760720" cy="4617720"/>
          </a:xfrm>
          <a:prstGeom prst="roundRect">
            <a:avLst>
              <a:gd name="adj" fmla="val 2376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46520" y="28803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44652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every cycle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189720" y="28803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fingerprint</a:t>
            </a:r>
            <a:endParaRPr lang="en-US" sz="1700" dirty="0"/>
          </a:p>
        </p:txBody>
      </p:sp>
      <p:sp>
        <p:nvSpPr>
          <p:cNvPr id="37" name="Shape 30"/>
          <p:cNvSpPr/>
          <p:nvPr/>
        </p:nvSpPr>
        <p:spPr>
          <a:xfrm>
            <a:off x="6446520" y="347472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446520" y="3474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350" dirty="0"/>
          </a:p>
        </p:txBody>
      </p:sp>
      <p:sp>
        <p:nvSpPr>
          <p:cNvPr id="39" name="Shape 32"/>
          <p:cNvSpPr/>
          <p:nvPr/>
        </p:nvSpPr>
        <p:spPr>
          <a:xfrm>
            <a:off x="7818120" y="347472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818120" y="3474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endParaRPr lang="en-US" sz="1350" dirty="0"/>
          </a:p>
        </p:txBody>
      </p:sp>
      <p:sp>
        <p:nvSpPr>
          <p:cNvPr id="41" name="Shape 34"/>
          <p:cNvSpPr/>
          <p:nvPr/>
        </p:nvSpPr>
        <p:spPr>
          <a:xfrm>
            <a:off x="9189720" y="347472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9189720" y="3474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350" dirty="0"/>
          </a:p>
        </p:txBody>
      </p:sp>
      <p:sp>
        <p:nvSpPr>
          <p:cNvPr id="43" name="Shape 36"/>
          <p:cNvSpPr/>
          <p:nvPr/>
        </p:nvSpPr>
        <p:spPr>
          <a:xfrm>
            <a:off x="10561320" y="347472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10561320" y="3474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6446520" y="589788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46520" y="58978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every few min</a:t>
            </a:r>
            <a:endParaRPr lang="en-US" sz="1400" dirty="0"/>
          </a:p>
        </p:txBody>
      </p:sp>
      <p:sp>
        <p:nvSpPr>
          <p:cNvPr id="47" name="Text 40"/>
          <p:cNvSpPr txBox="1"/>
          <p:nvPr/>
        </p:nvSpPr>
        <p:spPr>
          <a:xfrm>
            <a:off x="9189720" y="5897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revisit</a:t>
            </a:r>
            <a:endParaRPr lang="en-US" sz="1700" dirty="0"/>
          </a:p>
        </p:txBody>
      </p:sp>
      <p:sp>
        <p:nvSpPr>
          <p:cNvPr id="48" name="Shape 41"/>
          <p:cNvSpPr/>
          <p:nvPr/>
        </p:nvSpPr>
        <p:spPr>
          <a:xfrm>
            <a:off x="6446520" y="64922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6446520" y="64922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</a:t>
            </a:r>
            <a:endParaRPr lang="en-US" sz="1350" dirty="0"/>
          </a:p>
        </p:txBody>
      </p:sp>
      <p:sp>
        <p:nvSpPr>
          <p:cNvPr id="50" name="Shape 43"/>
          <p:cNvSpPr/>
          <p:nvPr/>
        </p:nvSpPr>
        <p:spPr>
          <a:xfrm>
            <a:off x="7818120" y="64922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7818120" y="64922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flexure</a:t>
            </a:r>
            <a:endParaRPr lang="en-US" sz="1350" dirty="0"/>
          </a:p>
        </p:txBody>
      </p:sp>
      <p:sp>
        <p:nvSpPr>
          <p:cNvPr id="52" name="Shape 45"/>
          <p:cNvSpPr/>
          <p:nvPr/>
        </p:nvSpPr>
        <p:spPr>
          <a:xfrm>
            <a:off x="9189720" y="64922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9189720" y="64922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bias</a:t>
            </a:r>
            <a:endParaRPr lang="en-US" sz="1350" dirty="0"/>
          </a:p>
        </p:txBody>
      </p:sp>
      <p:sp>
        <p:nvSpPr>
          <p:cNvPr id="54" name="Shape 47"/>
          <p:cNvSpPr/>
          <p:nvPr/>
        </p:nvSpPr>
        <p:spPr>
          <a:xfrm>
            <a:off x="10561320" y="64922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10561320" y="64922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boresight</a:t>
            </a:r>
            <a:endParaRPr lang="en-US" sz="1350" dirty="0"/>
          </a:p>
        </p:txBody>
      </p:sp>
      <p:sp>
        <p:nvSpPr>
          <p:cNvPr id="56" name="Shape 49"/>
          <p:cNvSpPr/>
          <p:nvPr/>
        </p:nvSpPr>
        <p:spPr>
          <a:xfrm>
            <a:off x="8229600" y="4069080"/>
            <a:ext cx="1737360" cy="1737360"/>
          </a:xfrm>
          <a:prstGeom prst="ellipse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8229600" y="40690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θ(t) ± σ</a:t>
            </a:r>
            <a:endParaRPr lang="en-US" sz="260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self-model</a:t>
            </a:r>
            <a:endParaRPr lang="en-US" sz="2600" dirty="0"/>
          </a:p>
        </p:txBody>
      </p:sp>
      <p:sp>
        <p:nvSpPr>
          <p:cNvPr id="58" name="Text 51"/>
          <p:cNvSpPr txBox="1"/>
          <p:nvPr/>
        </p:nvSpPr>
        <p:spPr>
          <a:xfrm>
            <a:off x="644652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Kalman + WLS</a:t>
            </a:r>
            <a:endParaRPr lang="en-US" sz="1300" dirty="0"/>
          </a:p>
        </p:txBody>
      </p:sp>
      <p:sp>
        <p:nvSpPr>
          <p:cNvPr id="59" name="Text 52"/>
          <p:cNvSpPr txBox="1"/>
          <p:nvPr/>
        </p:nvSpPr>
        <p:spPr>
          <a:xfrm>
            <a:off x="10058400" y="4526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carries its uncertainty</a:t>
            </a:r>
            <a:endParaRPr lang="en-US" sz="1300" dirty="0"/>
          </a:p>
        </p:txBody>
      </p:sp>
      <p:sp>
        <p:nvSpPr>
          <p:cNvPr id="60" name="Shape 53"/>
          <p:cNvSpPr/>
          <p:nvPr/>
        </p:nvSpPr>
        <p:spPr>
          <a:xfrm>
            <a:off x="12115800" y="4937760"/>
            <a:ext cx="64008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61" name="Shape 54"/>
          <p:cNvSpPr/>
          <p:nvPr/>
        </p:nvSpPr>
        <p:spPr>
          <a:xfrm>
            <a:off x="12573000" y="1828800"/>
            <a:ext cx="640080" cy="640080"/>
          </a:xfrm>
          <a:prstGeom prst="ellipse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12573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63" name="Text 56"/>
          <p:cNvSpPr txBox="1"/>
          <p:nvPr/>
        </p:nvSpPr>
        <p:spPr>
          <a:xfrm>
            <a:off x="13350240" y="1901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· JUDGE · DECLARE</a:t>
            </a:r>
            <a:endParaRPr lang="en-US" sz="2200" dirty="0"/>
          </a:p>
        </p:txBody>
      </p:sp>
      <p:sp>
        <p:nvSpPr>
          <p:cNvPr id="64" name="Shape 57"/>
          <p:cNvSpPr/>
          <p:nvPr/>
        </p:nvSpPr>
        <p:spPr>
          <a:xfrm>
            <a:off x="12847320" y="2697480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2984480" y="297180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6" name="Image 5" descr="img/image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0842" y="3128162"/>
            <a:ext cx="555955" cy="555955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1399032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900" dirty="0"/>
          </a:p>
        </p:txBody>
      </p:sp>
      <p:sp>
        <p:nvSpPr>
          <p:cNvPr id="68" name="Text 60"/>
          <p:cNvSpPr txBox="1"/>
          <p:nvPr/>
        </p:nvSpPr>
        <p:spPr>
          <a:xfrm>
            <a:off x="1399032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ADRC + feedforward from the measured plant</a:t>
            </a:r>
            <a:endParaRPr lang="en-US" sz="1450" dirty="0"/>
          </a:p>
        </p:txBody>
      </p:sp>
      <p:sp>
        <p:nvSpPr>
          <p:cNvPr id="69" name="Shape 61"/>
          <p:cNvSpPr/>
          <p:nvPr/>
        </p:nvSpPr>
        <p:spPr>
          <a:xfrm>
            <a:off x="12847320" y="4270248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2984480" y="4544568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1" name="Image 6" descr="img/image2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40842" y="4700930"/>
            <a:ext cx="555955" cy="555955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13990320" y="4407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900" dirty="0"/>
          </a:p>
        </p:txBody>
      </p:sp>
      <p:sp>
        <p:nvSpPr>
          <p:cNvPr id="73" name="Text 64"/>
          <p:cNvSpPr txBox="1"/>
          <p:nvPr/>
        </p:nvSpPr>
        <p:spPr>
          <a:xfrm>
            <a:off x="13990320" y="48646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cold-normal band → OK; outside → real fault</a:t>
            </a:r>
            <a:endParaRPr lang="en-US" sz="1450" dirty="0"/>
          </a:p>
        </p:txBody>
      </p:sp>
      <p:sp>
        <p:nvSpPr>
          <p:cNvPr id="74" name="Shape 65"/>
          <p:cNvSpPr/>
          <p:nvPr/>
        </p:nvSpPr>
        <p:spPr>
          <a:xfrm>
            <a:off x="12847320" y="5843016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2984480" y="6117336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6" name="Image 7" descr="img/image2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0842" y="6273698"/>
            <a:ext cx="555955" cy="555955"/>
          </a:xfrm>
          <a:prstGeom prst="rect">
            <a:avLst/>
          </a:prstGeom>
        </p:spPr>
      </p:pic>
      <p:sp>
        <p:nvSpPr>
          <p:cNvPr id="77" name="Text 67"/>
          <p:cNvSpPr txBox="1"/>
          <p:nvPr/>
        </p:nvSpPr>
        <p:spPr>
          <a:xfrm>
            <a:off x="13990320" y="5980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900" dirty="0"/>
          </a:p>
        </p:txBody>
      </p:sp>
      <p:sp>
        <p:nvSpPr>
          <p:cNvPr id="78" name="Text 68"/>
          <p:cNvSpPr txBox="1"/>
          <p:nvPr/>
        </p:nvSpPr>
        <p:spPr>
          <a:xfrm>
            <a:off x="13990320" y="643737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jitter, ID range, confidence</a:t>
            </a:r>
            <a:endParaRPr lang="en-US" sz="1450" dirty="0"/>
          </a:p>
        </p:txBody>
      </p:sp>
      <p:sp>
        <p:nvSpPr>
          <p:cNvPr id="79" name="Shape 69"/>
          <p:cNvSpPr/>
          <p:nvPr/>
        </p:nvSpPr>
        <p:spPr>
          <a:xfrm>
            <a:off x="457200" y="7543800"/>
            <a:ext cx="17373600" cy="777240"/>
          </a:xfrm>
          <a:prstGeom prst="roundRect">
            <a:avLst>
              <a:gd name="adj" fmla="val 14118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pic>
        <p:nvPicPr>
          <p:cNvPr id="80" name="Image 8" descr="img/image3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7644384"/>
            <a:ext cx="566928" cy="566928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1463040" y="7543800"/>
            <a:ext cx="1618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LOOP 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revisit compares predicted accuracy with measured accuracy, then updates θ(t)</a:t>
            </a:r>
            <a:endParaRPr lang="en-US" sz="1900" dirty="0"/>
          </a:p>
        </p:txBody>
      </p:sp>
      <p:sp>
        <p:nvSpPr>
          <p:cNvPr id="82" name="Shape 71"/>
          <p:cNvSpPr/>
          <p:nvPr/>
        </p:nvSpPr>
        <p:spPr>
          <a:xfrm>
            <a:off x="45720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83" name="Text 72"/>
          <p:cNvSpPr txBox="1"/>
          <p:nvPr/>
        </p:nvSpPr>
        <p:spPr>
          <a:xfrm>
            <a:off x="64008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</a:t>
            </a:r>
            <a:endParaRPr lang="en-US" sz="1500" dirty="0"/>
          </a:p>
        </p:txBody>
      </p:sp>
      <p:sp>
        <p:nvSpPr>
          <p:cNvPr id="84" name="Text 73"/>
          <p:cNvSpPr txBox="1"/>
          <p:nvPr/>
        </p:nvSpPr>
        <p:spPr>
          <a:xfrm>
            <a:off x="64008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direct drive · magnetic encoders · FOC</a:t>
            </a:r>
            <a:endParaRPr lang="en-US" sz="1500" dirty="0"/>
          </a:p>
        </p:txBody>
      </p:sp>
      <p:sp>
        <p:nvSpPr>
          <p:cNvPr id="85" name="Shape 74"/>
          <p:cNvSpPr/>
          <p:nvPr/>
        </p:nvSpPr>
        <p:spPr>
          <a:xfrm>
            <a:off x="338328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86" name="Text 75"/>
          <p:cNvSpPr txBox="1"/>
          <p:nvPr/>
        </p:nvSpPr>
        <p:spPr>
          <a:xfrm>
            <a:off x="356616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00" dirty="0"/>
          </a:p>
        </p:txBody>
      </p:sp>
      <p:sp>
        <p:nvSpPr>
          <p:cNvPr id="87" name="Text 76"/>
          <p:cNvSpPr txBox="1"/>
          <p:nvPr/>
        </p:nvSpPr>
        <p:spPr>
          <a:xfrm>
            <a:off x="356616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+ real-time MCU</a:t>
            </a:r>
            <a:endParaRPr lang="en-US" sz="1500" dirty="0"/>
          </a:p>
        </p:txBody>
      </p:sp>
      <p:sp>
        <p:nvSpPr>
          <p:cNvPr id="88" name="Shape 77"/>
          <p:cNvSpPr/>
          <p:nvPr/>
        </p:nvSpPr>
        <p:spPr>
          <a:xfrm>
            <a:off x="630936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89" name="Text 78"/>
          <p:cNvSpPr txBox="1"/>
          <p:nvPr/>
        </p:nvSpPr>
        <p:spPr>
          <a:xfrm>
            <a:off x="649224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500" dirty="0"/>
          </a:p>
        </p:txBody>
      </p:sp>
      <p:sp>
        <p:nvSpPr>
          <p:cNvPr id="90" name="Text 79"/>
          <p:cNvSpPr txBox="1"/>
          <p:nvPr/>
        </p:nvSpPr>
        <p:spPr>
          <a:xfrm>
            <a:off x="649224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2 cameras · current · temp · photodiode</a:t>
            </a:r>
            <a:endParaRPr lang="en-US" sz="1500" dirty="0"/>
          </a:p>
        </p:txBody>
      </p:sp>
      <p:sp>
        <p:nvSpPr>
          <p:cNvPr id="91" name="Shape 80"/>
          <p:cNvSpPr/>
          <p:nvPr/>
        </p:nvSpPr>
        <p:spPr>
          <a:xfrm>
            <a:off x="923544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2" name="Text 81"/>
          <p:cNvSpPr txBox="1"/>
          <p:nvPr/>
        </p:nvSpPr>
        <p:spPr>
          <a:xfrm>
            <a:off x="941832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500" dirty="0"/>
          </a:p>
        </p:txBody>
      </p:sp>
      <p:sp>
        <p:nvSpPr>
          <p:cNvPr id="93" name="Text 82"/>
          <p:cNvSpPr txBox="1"/>
          <p:nvPr/>
        </p:nvSpPr>
        <p:spPr>
          <a:xfrm>
            <a:off x="941832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ADRC · RLS · Kalman · TPOINT model</a:t>
            </a:r>
            <a:endParaRPr lang="en-US" sz="1500" dirty="0"/>
          </a:p>
        </p:txBody>
      </p:sp>
      <p:sp>
        <p:nvSpPr>
          <p:cNvPr id="94" name="Shape 83"/>
          <p:cNvSpPr/>
          <p:nvPr/>
        </p:nvSpPr>
        <p:spPr>
          <a:xfrm>
            <a:off x="1216152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5" name="Text 84"/>
          <p:cNvSpPr txBox="1"/>
          <p:nvPr/>
        </p:nvSpPr>
        <p:spPr>
          <a:xfrm>
            <a:off x="1234440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AI</a:t>
            </a:r>
            <a:endParaRPr lang="en-US" sz="1500" dirty="0"/>
          </a:p>
        </p:txBody>
      </p:sp>
      <p:sp>
        <p:nvSpPr>
          <p:cNvPr id="96" name="Text 85"/>
          <p:cNvSpPr txBox="1"/>
          <p:nvPr/>
        </p:nvSpPr>
        <p:spPr>
          <a:xfrm>
            <a:off x="1234440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tracking · ONNX drone classifier</a:t>
            </a:r>
            <a:endParaRPr lang="en-US" sz="1500" dirty="0"/>
          </a:p>
        </p:txBody>
      </p:sp>
      <p:sp>
        <p:nvSpPr>
          <p:cNvPr id="97" name="Shape 86"/>
          <p:cNvSpPr/>
          <p:nvPr/>
        </p:nvSpPr>
        <p:spPr>
          <a:xfrm>
            <a:off x="15087600" y="854964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8" name="Text 87"/>
          <p:cNvSpPr txBox="1"/>
          <p:nvPr/>
        </p:nvSpPr>
        <p:spPr>
          <a:xfrm>
            <a:off x="15270480" y="8686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00" dirty="0"/>
          </a:p>
        </p:txBody>
      </p:sp>
      <p:sp>
        <p:nvSpPr>
          <p:cNvPr id="99" name="Text 88"/>
          <p:cNvSpPr txBox="1"/>
          <p:nvPr/>
        </p:nvSpPr>
        <p:spPr>
          <a:xfrm>
            <a:off x="15270480" y="9070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low-temp Li-ion · 3 heaters · health check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926080" cy="11430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F23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165054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74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5000" dirty="0"/>
          </a:p>
        </p:txBody>
      </p:sp>
      <p:pic>
        <p:nvPicPr>
          <p:cNvPr id="5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 COST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₹1.33 lakh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prototype, including the −40 °C test bench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4251960"/>
            <a:ext cx="393467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251960"/>
            <a:ext cx="39346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head ₹97k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11910" y="4251960"/>
            <a:ext cx="1176345" cy="548640"/>
          </a:xfrm>
          <a:prstGeom prst="rect">
            <a:avLst/>
          </a:prstGeom>
          <a:solidFill>
            <a:srgbClr val="FFC48F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11910" y="4251960"/>
            <a:ext cx="11763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₹29k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88255" y="4251960"/>
            <a:ext cx="283945" cy="548640"/>
          </a:xfrm>
          <a:prstGeom prst="rect">
            <a:avLst/>
          </a:prstGeom>
          <a:solidFill>
            <a:srgbClr val="8FA3BA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4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contingency · itemised BOM in Budget Report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radar · no FOG gyro · no GPU needed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BUILDABLE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949440" y="242316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0" y="272491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img/image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2889504"/>
            <a:ext cx="585216" cy="58521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2960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off-the-shelf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BLDC, encoders, Pi 5, MCU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12435840" y="242316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618720" y="272491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2" descr="img/image4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312" y="2889504"/>
            <a:ext cx="585216" cy="58521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371600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only 3 parts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137160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· IMU · optical window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949440" y="411480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132320" y="441655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3" descr="img/image4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4581144"/>
            <a:ext cx="585216" cy="58521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22960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 °C campus bench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dry-ice box, fan, IR lamp, shaker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12435840" y="4114800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2618720" y="441655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4" descr="img/image4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3312" y="4581144"/>
            <a:ext cx="585216" cy="58521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371600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maths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1371600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ADRC, RLS, Kalman, vision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914400" y="7086600"/>
            <a:ext cx="16459200" cy="0"/>
          </a:xfrm>
          <a:prstGeom prst="line">
            <a:avLst/>
          </a:prstGeom>
          <a:noFill/>
          <a:ln w="38100">
            <a:solidFill>
              <a:srgbClr val="B9CCE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68680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41" name="Image 5" descr="img/image5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" y="6764731"/>
            <a:ext cx="643738" cy="64373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7240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502920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proof</a:t>
            </a:r>
            <a:endParaRPr lang="en-US" sz="1500" dirty="0"/>
          </a:p>
        </p:txBody>
      </p:sp>
      <p:sp>
        <p:nvSpPr>
          <p:cNvPr id="44" name="Shape 36"/>
          <p:cNvSpPr/>
          <p:nvPr/>
        </p:nvSpPr>
        <p:spPr>
          <a:xfrm>
            <a:off x="3090672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45" name="Image 6" descr="img/image5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1723" y="6764731"/>
            <a:ext cx="643738" cy="64373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2999232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2724912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 head</a:t>
            </a:r>
            <a:endParaRPr lang="en-US" sz="1500" dirty="0"/>
          </a:p>
        </p:txBody>
      </p:sp>
      <p:sp>
        <p:nvSpPr>
          <p:cNvPr id="48" name="Shape 39"/>
          <p:cNvSpPr/>
          <p:nvPr/>
        </p:nvSpPr>
        <p:spPr>
          <a:xfrm>
            <a:off x="5312664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49" name="Image 7" descr="img/image4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3715" y="6764731"/>
            <a:ext cx="643738" cy="643738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221224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4946904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sensing</a:t>
            </a:r>
            <a:endParaRPr lang="en-US" sz="1500" dirty="0"/>
          </a:p>
        </p:txBody>
      </p:sp>
      <p:sp>
        <p:nvSpPr>
          <p:cNvPr id="52" name="Shape 42"/>
          <p:cNvSpPr/>
          <p:nvPr/>
        </p:nvSpPr>
        <p:spPr>
          <a:xfrm>
            <a:off x="7534656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53" name="Image 8" descr="img/image2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707" y="6764731"/>
            <a:ext cx="643738" cy="643738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7443216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7168896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stack</a:t>
            </a:r>
            <a:endParaRPr lang="en-US" sz="1500" dirty="0"/>
          </a:p>
        </p:txBody>
      </p:sp>
      <p:sp>
        <p:nvSpPr>
          <p:cNvPr id="56" name="Shape 45"/>
          <p:cNvSpPr/>
          <p:nvPr/>
        </p:nvSpPr>
        <p:spPr>
          <a:xfrm>
            <a:off x="9756648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57" name="Image 9" descr="img/image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7699" y="6764731"/>
            <a:ext cx="643738" cy="643738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665208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9" name="Text 47"/>
          <p:cNvSpPr txBox="1"/>
          <p:nvPr/>
        </p:nvSpPr>
        <p:spPr>
          <a:xfrm>
            <a:off x="9390888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&amp; wind tests</a:t>
            </a:r>
            <a:endParaRPr lang="en-US" sz="1500" dirty="0"/>
          </a:p>
        </p:txBody>
      </p:sp>
      <p:sp>
        <p:nvSpPr>
          <p:cNvPr id="60" name="Shape 48"/>
          <p:cNvSpPr/>
          <p:nvPr/>
        </p:nvSpPr>
        <p:spPr>
          <a:xfrm>
            <a:off x="11978640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61" name="Image 10" descr="img/image5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59691" y="6764731"/>
            <a:ext cx="643738" cy="64373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11887200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11612880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check</a:t>
            </a:r>
            <a:endParaRPr lang="en-US" sz="1500" dirty="0"/>
          </a:p>
        </p:txBody>
      </p:sp>
      <p:sp>
        <p:nvSpPr>
          <p:cNvPr id="64" name="Shape 51"/>
          <p:cNvSpPr/>
          <p:nvPr/>
        </p:nvSpPr>
        <p:spPr>
          <a:xfrm>
            <a:off x="14200632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65" name="Image 11" descr="img/image5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81683" y="6764731"/>
            <a:ext cx="643738" cy="643738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14109192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7" name="Text 53"/>
          <p:cNvSpPr txBox="1"/>
          <p:nvPr/>
        </p:nvSpPr>
        <p:spPr>
          <a:xfrm>
            <a:off x="13834872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68" name="Shape 54"/>
          <p:cNvSpPr/>
          <p:nvPr/>
        </p:nvSpPr>
        <p:spPr>
          <a:xfrm>
            <a:off x="16422624" y="6583680"/>
            <a:ext cx="1005840" cy="100584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69" name="Image 12" descr="img/image5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03675" y="6764731"/>
            <a:ext cx="643738" cy="643738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16331184" y="6492240"/>
            <a:ext cx="365760" cy="36576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1" name="Text 56"/>
          <p:cNvSpPr txBox="1"/>
          <p:nvPr/>
        </p:nvSpPr>
        <p:spPr>
          <a:xfrm>
            <a:off x="16056864" y="7680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A/B demo</a:t>
            </a:r>
            <a:endParaRPr lang="en-US" sz="1500" dirty="0"/>
          </a:p>
        </p:txBody>
      </p:sp>
      <p:sp>
        <p:nvSpPr>
          <p:cNvPr id="72" name="Text 57"/>
          <p:cNvSpPr txBox="1"/>
          <p:nvPr/>
        </p:nvSpPr>
        <p:spPr>
          <a:xfrm>
            <a:off x="457200" y="8275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→ HANDLED</a:t>
            </a:r>
            <a:endParaRPr lang="en-US" sz="1800" dirty="0"/>
          </a:p>
        </p:txBody>
      </p:sp>
      <p:sp>
        <p:nvSpPr>
          <p:cNvPr id="73" name="Text 58"/>
          <p:cNvSpPr txBox="1"/>
          <p:nvPr/>
        </p:nvSpPr>
        <p:spPr>
          <a:xfrm>
            <a:off x="457200" y="8732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hides references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markers + ridges + stars; capability drops honestly</a:t>
            </a:r>
            <a:endParaRPr lang="en-US" sz="1450" dirty="0"/>
          </a:p>
        </p:txBody>
      </p:sp>
      <p:sp>
        <p:nvSpPr>
          <p:cNvPr id="74" name="Text 59"/>
          <p:cNvSpPr txBox="1"/>
          <p:nvPr/>
        </p:nvSpPr>
        <p:spPr>
          <a:xfrm>
            <a:off x="4846320" y="8732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 / dust on optics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heated window + image-quality check</a:t>
            </a:r>
            <a:endParaRPr lang="en-US" sz="1450" dirty="0"/>
          </a:p>
        </p:txBody>
      </p:sp>
      <p:sp>
        <p:nvSpPr>
          <p:cNvPr id="75" name="Text 60"/>
          <p:cNvSpPr txBox="1"/>
          <p:nvPr/>
        </p:nvSpPr>
        <p:spPr>
          <a:xfrm>
            <a:off x="9235440" y="8732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battery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insulated heated pack, cold-charge lockout</a:t>
            </a:r>
            <a:endParaRPr lang="en-US" sz="1450" dirty="0"/>
          </a:p>
        </p:txBody>
      </p:sp>
      <p:sp>
        <p:nvSpPr>
          <p:cNvPr id="76" name="Text 61"/>
          <p:cNvSpPr txBox="1"/>
          <p:nvPr/>
        </p:nvSpPr>
        <p:spPr>
          <a:xfrm>
            <a:off x="13624560" y="8732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drift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excitation gating, fallback to bench values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926080" cy="11430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F23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165054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74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5000" dirty="0"/>
          </a:p>
        </p:txBody>
      </p:sp>
      <p:pic>
        <p:nvPicPr>
          <p:cNvPr id="5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2880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field recalibrations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8529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do the calibrating (design goal)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8288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0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 parts only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28529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whole head, so power stays low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161520" y="182880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252960" y="18288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₹1.33 L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1481328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prototype cost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813280" y="28529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−40 °C bench, itemised BOM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AT 4,500 M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57200" y="4526280"/>
            <a:ext cx="5486400" cy="438912"/>
          </a:xfrm>
          <a:prstGeom prst="roundRect">
            <a:avLst>
              <a:gd name="adj" fmla="val 50000"/>
            </a:avLst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frozen calibration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92240" y="4526280"/>
            <a:ext cx="5486400" cy="43891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ACHAL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" y="512064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5120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Aim drifts in cold &amp; wind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989320" y="5550408"/>
            <a:ext cx="4572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492240" y="512064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pic>
        <p:nvPicPr>
          <p:cNvPr id="27" name="Image 1" descr="img/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276088"/>
            <a:ext cx="548640" cy="5486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31520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held steady: identification range holds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457200" y="614476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" y="61447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Technician must re-boresight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989320" y="6574536"/>
            <a:ext cx="4572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492240" y="614476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pic>
        <p:nvPicPr>
          <p:cNvPr id="33" name="Image 2" descr="img/image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6300216"/>
            <a:ext cx="548640" cy="54864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315200" y="61447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Boresight, tilt, gyro drift fixed in the field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457200" y="716889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85800" y="716889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Cold looks like damage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5989320" y="7598664"/>
            <a:ext cx="4572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6492240" y="716889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pic>
        <p:nvPicPr>
          <p:cNvPr id="39" name="Image 3" descr="img/image2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7324344"/>
            <a:ext cx="548640" cy="54864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315200" y="716889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faults (ice, slip, harness) flagged</a:t>
            </a:r>
            <a:endParaRPr lang="en-US" sz="1700" dirty="0"/>
          </a:p>
        </p:txBody>
      </p:sp>
      <p:sp>
        <p:nvSpPr>
          <p:cNvPr id="41" name="Shape 35"/>
          <p:cNvSpPr/>
          <p:nvPr/>
        </p:nvSpPr>
        <p:spPr>
          <a:xfrm>
            <a:off x="457200" y="8193024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85800" y="819302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Fires blind on a bad aim</a:t>
            </a:r>
            <a:endParaRPr lang="en-US" sz="1700" dirty="0"/>
          </a:p>
        </p:txBody>
      </p:sp>
      <p:sp>
        <p:nvSpPr>
          <p:cNvPr id="43" name="Shape 37"/>
          <p:cNvSpPr/>
          <p:nvPr/>
        </p:nvSpPr>
        <p:spPr>
          <a:xfrm>
            <a:off x="5989320" y="8622792"/>
            <a:ext cx="457200" cy="0"/>
          </a:xfrm>
          <a:prstGeom prst="line">
            <a:avLst/>
          </a:prstGeom>
          <a:noFill/>
          <a:ln w="31750">
            <a:solidFill>
              <a:srgbClr val="0F2340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6492240" y="8193024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pic>
        <p:nvPicPr>
          <p:cNvPr id="45" name="Image 4" descr="img/image2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8348472"/>
            <a:ext cx="548640" cy="54864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7315200" y="819302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sees live ID range; no blind engagement</a:t>
            </a:r>
            <a:endParaRPr lang="en-US" sz="1700" dirty="0"/>
          </a:p>
        </p:txBody>
      </p:sp>
      <p:sp>
        <p:nvSpPr>
          <p:cNvPr id="47" name="Text 40"/>
          <p:cNvSpPr txBox="1"/>
          <p:nvPr/>
        </p:nvSpPr>
        <p:spPr>
          <a:xfrm>
            <a:off x="1261872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USE IT</a:t>
            </a:r>
            <a:endParaRPr lang="en-US" sz="2200" dirty="0"/>
          </a:p>
        </p:txBody>
      </p:sp>
      <p:sp>
        <p:nvSpPr>
          <p:cNvPr id="48" name="Shape 41"/>
          <p:cNvSpPr/>
          <p:nvPr/>
        </p:nvSpPr>
        <p:spPr>
          <a:xfrm>
            <a:off x="12618720" y="452628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49" name="Image 5" descr="img/image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643" y="4638203"/>
            <a:ext cx="397947" cy="397947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3395960" y="45262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labs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&amp; EO trackers</a:t>
            </a:r>
            <a:endParaRPr lang="en-US" sz="1600" dirty="0"/>
          </a:p>
        </p:txBody>
      </p:sp>
      <p:sp>
        <p:nvSpPr>
          <p:cNvPr id="51" name="Shape 43"/>
          <p:cNvSpPr/>
          <p:nvPr/>
        </p:nvSpPr>
        <p:spPr>
          <a:xfrm>
            <a:off x="12618720" y="525780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52" name="Image 6" descr="img/image6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0643" y="5369723"/>
            <a:ext cx="397947" cy="397947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3395960" y="52578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/ IDD&amp;IS</a:t>
            </a:r>
            <a:endParaRPr lang="en-US" sz="1600" dirty="0"/>
          </a:p>
        </p:txBody>
      </p:sp>
      <p:sp>
        <p:nvSpPr>
          <p:cNvPr id="54" name="Shape 45"/>
          <p:cNvSpPr/>
          <p:nvPr/>
        </p:nvSpPr>
        <p:spPr>
          <a:xfrm>
            <a:off x="12618720" y="598932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55" name="Image 7" descr="img/image6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0643" y="6101243"/>
            <a:ext cx="397947" cy="397947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3395960" y="59893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Air Defence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Ladakh, east</a:t>
            </a:r>
            <a:endParaRPr lang="en-US" sz="1600" dirty="0"/>
          </a:p>
        </p:txBody>
      </p:sp>
      <p:sp>
        <p:nvSpPr>
          <p:cNvPr id="57" name="Shape 47"/>
          <p:cNvSpPr/>
          <p:nvPr/>
        </p:nvSpPr>
        <p:spPr>
          <a:xfrm>
            <a:off x="12618720" y="672084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58" name="Image 8" descr="img/image6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30643" y="6832763"/>
            <a:ext cx="397947" cy="397947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3395960" y="67208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high-altitude bases</a:t>
            </a:r>
            <a:endParaRPr lang="en-US" sz="1600" dirty="0"/>
          </a:p>
        </p:txBody>
      </p:sp>
      <p:sp>
        <p:nvSpPr>
          <p:cNvPr id="60" name="Shape 49"/>
          <p:cNvSpPr/>
          <p:nvPr/>
        </p:nvSpPr>
        <p:spPr>
          <a:xfrm>
            <a:off x="12618720" y="745236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61" name="Image 9" descr="img/image6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30643" y="7564283"/>
            <a:ext cx="397947" cy="397947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13395960" y="74523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ITBP / CAPF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posts</a:t>
            </a:r>
            <a:endParaRPr lang="en-US" sz="1600" dirty="0"/>
          </a:p>
        </p:txBody>
      </p:sp>
      <p:sp>
        <p:nvSpPr>
          <p:cNvPr id="63" name="Shape 51"/>
          <p:cNvSpPr/>
          <p:nvPr/>
        </p:nvSpPr>
        <p:spPr>
          <a:xfrm>
            <a:off x="12618720" y="8183880"/>
            <a:ext cx="621792" cy="621792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64" name="Image 10" descr="img/image7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30643" y="8295803"/>
            <a:ext cx="397947" cy="397947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13395960" y="81838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   </a:t>
            </a:r>
            <a:pPr indent="0" marL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sites</a:t>
            </a:r>
            <a:endParaRPr lang="en-US" sz="1600" dirty="0"/>
          </a:p>
        </p:txBody>
      </p:sp>
      <p:sp>
        <p:nvSpPr>
          <p:cNvPr id="66" name="Text 53"/>
          <p:cNvSpPr txBox="1"/>
          <p:nvPr/>
        </p:nvSpPr>
        <p:spPr>
          <a:xfrm>
            <a:off x="12618720" y="8915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users; no endorsement implied</a:t>
            </a:r>
            <a:endParaRPr lang="en-US" sz="1200" dirty="0"/>
          </a:p>
        </p:txBody>
      </p:sp>
      <p:sp>
        <p:nvSpPr>
          <p:cNvPr id="67" name="Text 54"/>
          <p:cNvSpPr txBox="1"/>
          <p:nvPr/>
        </p:nvSpPr>
        <p:spPr>
          <a:xfrm>
            <a:off x="457200" y="9802368"/>
            <a:ext cx="1737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Planet: low-power selective heating   ·   People: safer, self-diagnosing operation   ·   Profit: COTS, modular, scalable to DEW/EO trackers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2926080" cy="11430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F23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WeAreDoomed</a:t>
            </a:r>
            <a:endParaRPr lang="en-US" sz="2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165054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743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4200" dirty="0"/>
          </a:p>
        </p:txBody>
      </p:sp>
      <p:pic>
        <p:nvPicPr>
          <p:cNvPr id="5" name="Image 0" descr="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0" y="137160"/>
            <a:ext cx="32918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783080"/>
            <a:ext cx="17373600" cy="822960"/>
          </a:xfrm>
          <a:prstGeom prst="roundRect">
            <a:avLst>
              <a:gd name="adj" fmla="val 13333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1691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already fields precision counter-drone systems (D4, IDD&amp;IS, Mk-II(A) laser) [1–3]. </a:t>
            </a:r>
            <a:pPr indent="0" marL="0">
              <a:buNone/>
            </a:pPr>
            <a:r>
              <a:rPr lang="en-US" sz="1900" b="1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micro-radian aim at altitude is the open gap.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88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TECHNIQUE  →  HOW ACHAL USES IT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34930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img/image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3" y="3641141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832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pointing models</a:t>
            </a:r>
            <a:endParaRPr lang="en-US" sz="1700" dirty="0"/>
          </a:p>
        </p:txBody>
      </p:sp>
      <p:sp>
        <p:nvSpPr>
          <p:cNvPr id="13" name="Text 9">
            <a:hlinkClick r:id="rId3" tooltip=""/>
          </p:cNvPr>
          <p:cNvSpPr txBox="1"/>
          <p:nvPr/>
        </p:nvSpPr>
        <p:spPr>
          <a:xfrm>
            <a:off x="1554480" y="4178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TPOINT [4]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37673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re-fit from markers, ridges, stars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080760" y="32918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34930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img/image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53" y="3641141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33832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observers</a:t>
            </a:r>
            <a:endParaRPr lang="en-US" sz="1700" dirty="0"/>
          </a:p>
        </p:txBody>
      </p:sp>
      <p:sp>
        <p:nvSpPr>
          <p:cNvPr id="19" name="Text 14">
            <a:hlinkClick r:id="rId5" tooltip=""/>
          </p:cNvPr>
          <p:cNvSpPr txBox="1"/>
          <p:nvPr/>
        </p:nvSpPr>
        <p:spPr>
          <a:xfrm>
            <a:off x="7178040" y="4178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Springer 2020 [5]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7178040" y="37673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ADRC on the measured plant gain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5720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48646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img/image8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3" y="5012741"/>
            <a:ext cx="526694" cy="52669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7548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 torque calibration</a:t>
            </a:r>
            <a:endParaRPr lang="en-US" sz="1700" dirty="0"/>
          </a:p>
        </p:txBody>
      </p:sp>
      <p:sp>
        <p:nvSpPr>
          <p:cNvPr id="25" name="Text 19">
            <a:hlinkClick r:id="rId7" tooltip=""/>
          </p:cNvPr>
          <p:cNvSpPr txBox="1"/>
          <p:nvPr/>
        </p:nvSpPr>
        <p:spPr>
          <a:xfrm>
            <a:off x="1554480" y="55504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 7,437,222 [6]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554480" y="5138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done live in the field, not once in a lab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608076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217920" y="48646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4" descr="img/image7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053" y="5012741"/>
            <a:ext cx="526694" cy="52669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78040" y="47548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Auto-boresight</a:t>
            </a:r>
            <a:endParaRPr lang="en-US" sz="1700" dirty="0"/>
          </a:p>
        </p:txBody>
      </p:sp>
      <p:sp>
        <p:nvSpPr>
          <p:cNvPr id="31" name="Text 24">
            <a:hlinkClick r:id="rId9" tooltip=""/>
          </p:cNvPr>
          <p:cNvSpPr txBox="1"/>
          <p:nvPr/>
        </p:nvSpPr>
        <p:spPr>
          <a:xfrm>
            <a:off x="7178040" y="55504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WO2000016152 [7]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7178040" y="5138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checked by co-observing references</a:t>
            </a:r>
            <a:endParaRPr lang="en-US" sz="1450" dirty="0"/>
          </a:p>
        </p:txBody>
      </p:sp>
      <p:sp>
        <p:nvSpPr>
          <p:cNvPr id="33" name="Shape 26"/>
          <p:cNvSpPr/>
          <p:nvPr/>
        </p:nvSpPr>
        <p:spPr>
          <a:xfrm>
            <a:off x="457200" y="60350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" y="62362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5" descr="img/image5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3" y="6384341"/>
            <a:ext cx="526694" cy="52669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554480" y="6126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prediction</a:t>
            </a:r>
            <a:endParaRPr lang="en-US" sz="1700" dirty="0"/>
          </a:p>
        </p:txBody>
      </p:sp>
      <p:sp>
        <p:nvSpPr>
          <p:cNvPr id="37" name="Text 29">
            <a:hlinkClick r:id="rId11" tooltip=""/>
          </p:cNvPr>
          <p:cNvSpPr txBox="1"/>
          <p:nvPr/>
        </p:nvSpPr>
        <p:spPr>
          <a:xfrm>
            <a:off x="1554480" y="6922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survey [8]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1554480" y="65105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live to declare capability</a:t>
            </a:r>
            <a:endParaRPr lang="en-US" sz="1450" dirty="0"/>
          </a:p>
        </p:txBody>
      </p:sp>
      <p:sp>
        <p:nvSpPr>
          <p:cNvPr id="39" name="Shape 31"/>
          <p:cNvSpPr/>
          <p:nvPr/>
        </p:nvSpPr>
        <p:spPr>
          <a:xfrm>
            <a:off x="6080760" y="60350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217920" y="623620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6" descr="img/image3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6053" y="6384341"/>
            <a:ext cx="526694" cy="52669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78040" y="6126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signatures</a:t>
            </a:r>
            <a:endParaRPr lang="en-US" sz="1700" dirty="0"/>
          </a:p>
        </p:txBody>
      </p:sp>
      <p:sp>
        <p:nvSpPr>
          <p:cNvPr id="43" name="Text 34">
            <a:hlinkClick r:id="rId13" tooltip=""/>
          </p:cNvPr>
          <p:cNvSpPr txBox="1"/>
          <p:nvPr/>
        </p:nvSpPr>
        <p:spPr>
          <a:xfrm>
            <a:off x="7178040" y="6922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EventRadar 2026 [9]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7178040" y="65105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rotor photodiode for ID &amp; kill check</a:t>
            </a:r>
            <a:endParaRPr lang="en-US" sz="1450" dirty="0"/>
          </a:p>
        </p:txBody>
      </p:sp>
      <p:sp>
        <p:nvSpPr>
          <p:cNvPr id="45" name="Shape 36"/>
          <p:cNvSpPr/>
          <p:nvPr/>
        </p:nvSpPr>
        <p:spPr>
          <a:xfrm>
            <a:off x="457200" y="7452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731520" y="7452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novelty: 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published; the closed self-reference loop with live verification is ours.</a:t>
            </a:r>
            <a:endParaRPr lang="en-US" sz="1650" dirty="0"/>
          </a:p>
        </p:txBody>
      </p:sp>
      <p:sp>
        <p:nvSpPr>
          <p:cNvPr id="47" name="Text 38"/>
          <p:cNvSpPr txBox="1"/>
          <p:nvPr/>
        </p:nvSpPr>
        <p:spPr>
          <a:xfrm>
            <a:off x="11978640" y="27889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0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SEE MORE</a:t>
            </a:r>
            <a:endParaRPr lang="en-US" sz="1800" dirty="0"/>
          </a:p>
        </p:txBody>
      </p:sp>
      <p:sp>
        <p:nvSpPr>
          <p:cNvPr id="48" name="Shape 39"/>
          <p:cNvSpPr/>
          <p:nvPr/>
        </p:nvSpPr>
        <p:spPr>
          <a:xfrm>
            <a:off x="11978640" y="329184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FDF0E6"/>
          </a:solidFill>
          <a:ln w="19050">
            <a:solidFill>
              <a:srgbClr val="E06A12"/>
            </a:solidFill>
            <a:prstDash val="solid"/>
          </a:ln>
        </p:spPr>
      </p:sp>
      <p:pic>
        <p:nvPicPr>
          <p:cNvPr id="49" name="Image 7" descr="qr_sim.png">
            <a:hlinkClick r:id="rId15" tooltip="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15800" y="3401568"/>
            <a:ext cx="1243584" cy="1243584"/>
          </a:xfrm>
          <a:prstGeom prst="rect">
            <a:avLst/>
          </a:prstGeom>
        </p:spPr>
      </p:pic>
      <p:sp>
        <p:nvSpPr>
          <p:cNvPr id="50" name="Text 40">
            <a:hlinkClick r:id="rId16" tooltip=""/>
          </p:cNvPr>
          <p:cNvSpPr txBox="1"/>
          <p:nvPr/>
        </p:nvSpPr>
        <p:spPr>
          <a:xfrm>
            <a:off x="1357884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u="sng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Simulation  ↗</a:t>
            </a:r>
            <a:endParaRPr lang="en-US" sz="2100" dirty="0"/>
          </a:p>
        </p:txBody>
      </p:sp>
      <p:sp>
        <p:nvSpPr>
          <p:cNvPr id="51" name="Text 41"/>
          <p:cNvSpPr txBox="1"/>
          <p:nvPr/>
        </p:nvSpPr>
        <p:spPr>
          <a:xfrm>
            <a:off x="1357884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achal-simulation.vercel.app</a:t>
            </a:r>
            <a:endParaRPr lang="en-US" sz="1450" dirty="0"/>
          </a:p>
        </p:txBody>
      </p:sp>
      <p:sp>
        <p:nvSpPr>
          <p:cNvPr id="52" name="Shape 42"/>
          <p:cNvSpPr/>
          <p:nvPr/>
        </p:nvSpPr>
        <p:spPr>
          <a:xfrm>
            <a:off x="11978640" y="493776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9CCE0"/>
            </a:solidFill>
            <a:prstDash val="solid"/>
          </a:ln>
        </p:spPr>
      </p:sp>
      <p:pic>
        <p:nvPicPr>
          <p:cNvPr id="53" name="Image 8" descr="qr_doc.png">
            <a:hlinkClick r:id="rId18" tooltip="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15800" y="5047488"/>
            <a:ext cx="1243584" cy="1243584"/>
          </a:xfrm>
          <a:prstGeom prst="rect">
            <a:avLst/>
          </a:prstGeom>
        </p:spPr>
      </p:pic>
      <p:sp>
        <p:nvSpPr>
          <p:cNvPr id="54" name="Text 43">
            <a:hlinkClick r:id="rId19" tooltip=""/>
          </p:cNvPr>
          <p:cNvSpPr txBox="1"/>
          <p:nvPr/>
        </p:nvSpPr>
        <p:spPr>
          <a:xfrm>
            <a:off x="13578840" y="5193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u="sng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 Report  ↗</a:t>
            </a:r>
            <a:endParaRPr lang="en-US" sz="2100" dirty="0"/>
          </a:p>
        </p:txBody>
      </p:sp>
      <p:sp>
        <p:nvSpPr>
          <p:cNvPr id="55" name="Text 44"/>
          <p:cNvSpPr txBox="1"/>
          <p:nvPr/>
        </p:nvSpPr>
        <p:spPr>
          <a:xfrm>
            <a:off x="13578840" y="5715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ACHAL documentation</a:t>
            </a:r>
            <a:endParaRPr lang="en-US" sz="1450" dirty="0"/>
          </a:p>
        </p:txBody>
      </p:sp>
      <p:sp>
        <p:nvSpPr>
          <p:cNvPr id="56" name="Shape 45"/>
          <p:cNvSpPr/>
          <p:nvPr/>
        </p:nvSpPr>
        <p:spPr>
          <a:xfrm>
            <a:off x="11978640" y="658368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9CCE0"/>
            </a:solidFill>
            <a:prstDash val="solid"/>
          </a:ln>
        </p:spPr>
      </p:sp>
      <p:pic>
        <p:nvPicPr>
          <p:cNvPr id="57" name="Image 9" descr="qr_bud.png">
            <a:hlinkClick r:id="rId21" tooltip="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15800" y="6693408"/>
            <a:ext cx="1243584" cy="1243584"/>
          </a:xfrm>
          <a:prstGeom prst="rect">
            <a:avLst/>
          </a:prstGeom>
        </p:spPr>
      </p:pic>
      <p:sp>
        <p:nvSpPr>
          <p:cNvPr id="58" name="Text 46">
            <a:hlinkClick r:id="rId22" tooltip=""/>
          </p:cNvPr>
          <p:cNvSpPr txBox="1"/>
          <p:nvPr/>
        </p:nvSpPr>
        <p:spPr>
          <a:xfrm>
            <a:off x="13578840" y="68397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u="sng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Budget Report  ↗</a:t>
            </a:r>
            <a:endParaRPr lang="en-US" sz="2100" dirty="0"/>
          </a:p>
        </p:txBody>
      </p:sp>
      <p:sp>
        <p:nvSpPr>
          <p:cNvPr id="59" name="Text 47"/>
          <p:cNvSpPr txBox="1"/>
          <p:nvPr/>
        </p:nvSpPr>
        <p:spPr>
          <a:xfrm>
            <a:off x="13578840" y="7360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BOM + cost charts</a:t>
            </a:r>
            <a:endParaRPr lang="en-US" sz="1450" dirty="0"/>
          </a:p>
        </p:txBody>
      </p:sp>
      <p:sp>
        <p:nvSpPr>
          <p:cNvPr id="60" name="Text 48"/>
          <p:cNvSpPr txBox="1"/>
          <p:nvPr/>
        </p:nvSpPr>
        <p:spPr>
          <a:xfrm>
            <a:off x="457200" y="845820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BEL / DRDO. D4 Anti-Drone System.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Integrated Drone Detection &amp; Interdiction System.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Business Standard. DRDO Mk-II(A) laser trial, Apr 2025.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 P. Wallace. Telescope Pointing (TPOINT).</a:t>
            </a:r>
            <a:endParaRPr lang="en-US" sz="1300" dirty="0"/>
          </a:p>
        </p:txBody>
      </p:sp>
      <p:sp>
        <p:nvSpPr>
          <p:cNvPr id="61" name="Text 49"/>
          <p:cNvSpPr txBox="1"/>
          <p:nvPr/>
        </p:nvSpPr>
        <p:spPr>
          <a:xfrm>
            <a:off x="6309360" y="845820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 LOS stabilisation using a disturbance observer. Springer, 2020.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US 7,437,222. Gimbal disturbance calibration.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 WO2000016152A1. Auto-alignment of EO elements.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 NASA. Spacecraft line-of-sight jitter survey, 2020.</a:t>
            </a:r>
            <a:endParaRPr lang="en-US" sz="1300" dirty="0"/>
          </a:p>
        </p:txBody>
      </p:sp>
      <p:sp>
        <p:nvSpPr>
          <p:cNvPr id="62" name="Text 50"/>
          <p:cNvSpPr txBox="1"/>
          <p:nvPr/>
        </p:nvSpPr>
        <p:spPr>
          <a:xfrm>
            <a:off x="12161520" y="845820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9. EventRadar: long-range UAV discovery. arXiv, 2026.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 Adaptive servo control with LuGre friction. ASME JDSMC.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11. JSS 55555. Environmental tests for defence equipment.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12. Asian Military Review. MoD RFI, high-altitude C-UAS, 2026.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ACHAL – SIH26050 – WeAreDoomed</dc:title>
  <dc:subject>PptxGenJS Presentation</dc:subject>
  <dc:creator>PptxGenJS</dc:creator>
  <cp:lastModifiedBy>PptxGenJS</cp:lastModifiedBy>
  <cp:revision>1</cp:revision>
  <dcterms:created xsi:type="dcterms:W3CDTF">2026-10-05T17:52:26Z</dcterms:created>
  <dcterms:modified xsi:type="dcterms:W3CDTF">2026-10-05T17:52:26Z</dcterms:modified>
</cp:coreProperties>
</file>